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14" r:id="rId2"/>
    <p:sldId id="541" r:id="rId3"/>
    <p:sldId id="517" r:id="rId4"/>
    <p:sldId id="518" r:id="rId5"/>
    <p:sldId id="520" r:id="rId6"/>
    <p:sldId id="537" r:id="rId7"/>
    <p:sldId id="548" r:id="rId8"/>
    <p:sldId id="549" r:id="rId9"/>
    <p:sldId id="550" r:id="rId10"/>
    <p:sldId id="552" r:id="rId11"/>
    <p:sldId id="554" r:id="rId12"/>
    <p:sldId id="555" r:id="rId13"/>
    <p:sldId id="556" r:id="rId14"/>
    <p:sldId id="543" r:id="rId15"/>
    <p:sldId id="557" r:id="rId16"/>
    <p:sldId id="563" r:id="rId17"/>
    <p:sldId id="562" r:id="rId18"/>
    <p:sldId id="558" r:id="rId19"/>
    <p:sldId id="560" r:id="rId20"/>
    <p:sldId id="561" r:id="rId21"/>
    <p:sldId id="564" r:id="rId22"/>
    <p:sldId id="565" r:id="rId23"/>
    <p:sldId id="566" r:id="rId24"/>
    <p:sldId id="567" r:id="rId25"/>
    <p:sldId id="56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B69EC-25FE-4E5F-8B07-D3F4A9AAE1F3}" v="2" dt="2026-09-03T15:10:11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32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ran Chowdhury  Dipto" userId="2b5ddac0-4c64-4558-af27-bf5213435365" providerId="ADAL" clId="{92107F7E-3BC0-45EC-8664-9E8BDAAE8E4A}"/>
    <pc:docChg chg="undo custSel addSld delSld modSld sldOrd">
      <pc:chgData name="Imran Chowdhury  Dipto" userId="2b5ddac0-4c64-4558-af27-bf5213435365" providerId="ADAL" clId="{92107F7E-3BC0-45EC-8664-9E8BDAAE8E4A}" dt="2026-09-04T09:26:01.179" v="1239" actId="20577"/>
      <pc:docMkLst>
        <pc:docMk/>
      </pc:docMkLst>
      <pc:sldChg chg="delSp modSp mod">
        <pc:chgData name="Imran Chowdhury  Dipto" userId="2b5ddac0-4c64-4558-af27-bf5213435365" providerId="ADAL" clId="{92107F7E-3BC0-45EC-8664-9E8BDAAE8E4A}" dt="2026-09-03T10:51:20.446" v="792" actId="20577"/>
        <pc:sldMkLst>
          <pc:docMk/>
          <pc:sldMk cId="2848888429" sldId="514"/>
        </pc:sldMkLst>
        <pc:spChg chg="mod">
          <ac:chgData name="Imran Chowdhury  Dipto" userId="2b5ddac0-4c64-4558-af27-bf5213435365" providerId="ADAL" clId="{92107F7E-3BC0-45EC-8664-9E8BDAAE8E4A}" dt="2026-09-03T10:50:50.711" v="773"/>
          <ac:spMkLst>
            <pc:docMk/>
            <pc:sldMk cId="2848888429" sldId="514"/>
            <ac:spMk id="2" creationId="{A7A76032-F0AB-BD4F-C920-4AFD43D242E9}"/>
          </ac:spMkLst>
        </pc:spChg>
        <pc:spChg chg="mod">
          <ac:chgData name="Imran Chowdhury  Dipto" userId="2b5ddac0-4c64-4558-af27-bf5213435365" providerId="ADAL" clId="{92107F7E-3BC0-45EC-8664-9E8BDAAE8E4A}" dt="2026-09-03T10:51:20.446" v="792" actId="20577"/>
          <ac:spMkLst>
            <pc:docMk/>
            <pc:sldMk cId="2848888429" sldId="514"/>
            <ac:spMk id="9" creationId="{22AB8067-986A-D44D-7B4F-E702D47DD8CE}"/>
          </ac:spMkLst>
        </pc:spChg>
      </pc:sldChg>
      <pc:sldChg chg="modSp del mod">
        <pc:chgData name="Imran Chowdhury  Dipto" userId="2b5ddac0-4c64-4558-af27-bf5213435365" providerId="ADAL" clId="{92107F7E-3BC0-45EC-8664-9E8BDAAE8E4A}" dt="2026-09-03T10:51:55.980" v="808" actId="2696"/>
        <pc:sldMkLst>
          <pc:docMk/>
          <pc:sldMk cId="68634754" sldId="515"/>
        </pc:sldMkLst>
        <pc:spChg chg="mod">
          <ac:chgData name="Imran Chowdhury  Dipto" userId="2b5ddac0-4c64-4558-af27-bf5213435365" providerId="ADAL" clId="{92107F7E-3BC0-45EC-8664-9E8BDAAE8E4A}" dt="2026-09-03T10:51:49.596" v="807" actId="20577"/>
          <ac:spMkLst>
            <pc:docMk/>
            <pc:sldMk cId="68634754" sldId="515"/>
            <ac:spMk id="2" creationId="{9340369C-E391-822E-CE7B-F86978A8D0F8}"/>
          </ac:spMkLst>
        </pc:spChg>
      </pc:sldChg>
      <pc:sldChg chg="modSp mod">
        <pc:chgData name="Imran Chowdhury  Dipto" userId="2b5ddac0-4c64-4558-af27-bf5213435365" providerId="ADAL" clId="{92107F7E-3BC0-45EC-8664-9E8BDAAE8E4A}" dt="2026-09-04T09:23:28.676" v="1227" actId="20577"/>
        <pc:sldMkLst>
          <pc:docMk/>
          <pc:sldMk cId="2340798936" sldId="541"/>
        </pc:sldMkLst>
        <pc:spChg chg="mod">
          <ac:chgData name="Imran Chowdhury  Dipto" userId="2b5ddac0-4c64-4558-af27-bf5213435365" providerId="ADAL" clId="{92107F7E-3BC0-45EC-8664-9E8BDAAE8E4A}" dt="2026-09-04T09:23:28.676" v="1227" actId="20577"/>
          <ac:spMkLst>
            <pc:docMk/>
            <pc:sldMk cId="2340798936" sldId="541"/>
            <ac:spMk id="2" creationId="{2E97CDF2-7813-86B8-4FCF-D9C116F2F3D6}"/>
          </ac:spMkLst>
        </pc:spChg>
        <pc:spChg chg="mod">
          <ac:chgData name="Imran Chowdhury  Dipto" userId="2b5ddac0-4c64-4558-af27-bf5213435365" providerId="ADAL" clId="{92107F7E-3BC0-45EC-8664-9E8BDAAE8E4A}" dt="2026-09-03T15:22:59.672" v="1078" actId="20577"/>
          <ac:spMkLst>
            <pc:docMk/>
            <pc:sldMk cId="2340798936" sldId="541"/>
            <ac:spMk id="3" creationId="{B76AB61B-A48A-B8F8-ABEC-8A33E57C2A68}"/>
          </ac:spMkLst>
        </pc:spChg>
      </pc:sldChg>
      <pc:sldChg chg="modSp add mod">
        <pc:chgData name="Imran Chowdhury  Dipto" userId="2b5ddac0-4c64-4558-af27-bf5213435365" providerId="ADAL" clId="{92107F7E-3BC0-45EC-8664-9E8BDAAE8E4A}" dt="2026-09-03T15:10:11.948" v="985"/>
        <pc:sldMkLst>
          <pc:docMk/>
          <pc:sldMk cId="1822711931" sldId="546"/>
        </pc:sldMkLst>
        <pc:spChg chg="mod">
          <ac:chgData name="Imran Chowdhury  Dipto" userId="2b5ddac0-4c64-4558-af27-bf5213435365" providerId="ADAL" clId="{92107F7E-3BC0-45EC-8664-9E8BDAAE8E4A}" dt="2026-09-03T15:10:04.218" v="983" actId="20577"/>
          <ac:spMkLst>
            <pc:docMk/>
            <pc:sldMk cId="1822711931" sldId="546"/>
            <ac:spMk id="2" creationId="{907285A0-6A58-7484-3419-FDBFCAFC26CE}"/>
          </ac:spMkLst>
        </pc:spChg>
        <pc:spChg chg="mod">
          <ac:chgData name="Imran Chowdhury  Dipto" userId="2b5ddac0-4c64-4558-af27-bf5213435365" providerId="ADAL" clId="{92107F7E-3BC0-45EC-8664-9E8BDAAE8E4A}" dt="2026-09-03T15:10:11.948" v="985"/>
          <ac:spMkLst>
            <pc:docMk/>
            <pc:sldMk cId="1822711931" sldId="546"/>
            <ac:spMk id="3" creationId="{416B8B42-98C4-6FC2-8765-21A4A33F21DB}"/>
          </ac:spMkLst>
        </pc:spChg>
      </pc:sldChg>
      <pc:sldChg chg="modSp add mod">
        <pc:chgData name="Imran Chowdhury  Dipto" userId="2b5ddac0-4c64-4558-af27-bf5213435365" providerId="ADAL" clId="{92107F7E-3BC0-45EC-8664-9E8BDAAE8E4A}" dt="2026-09-03T15:24:13.481" v="1092" actId="20577"/>
        <pc:sldMkLst>
          <pc:docMk/>
          <pc:sldMk cId="1759439002" sldId="547"/>
        </pc:sldMkLst>
        <pc:spChg chg="mod">
          <ac:chgData name="Imran Chowdhury  Dipto" userId="2b5ddac0-4c64-4558-af27-bf5213435365" providerId="ADAL" clId="{92107F7E-3BC0-45EC-8664-9E8BDAAE8E4A}" dt="2026-09-03T15:24:13.481" v="1092" actId="20577"/>
          <ac:spMkLst>
            <pc:docMk/>
            <pc:sldMk cId="1759439002" sldId="547"/>
            <ac:spMk id="2" creationId="{77FB98D5-6E23-C286-0A2C-35CC7B84FDA3}"/>
          </ac:spMkLst>
        </pc:spChg>
      </pc:sldChg>
      <pc:sldChg chg="modSp add mod">
        <pc:chgData name="Imran Chowdhury  Dipto" userId="2b5ddac0-4c64-4558-af27-bf5213435365" providerId="ADAL" clId="{92107F7E-3BC0-45EC-8664-9E8BDAAE8E4A}" dt="2026-09-04T09:26:01.179" v="1239" actId="20577"/>
        <pc:sldMkLst>
          <pc:docMk/>
          <pc:sldMk cId="3157174001" sldId="548"/>
        </pc:sldMkLst>
        <pc:spChg chg="mod">
          <ac:chgData name="Imran Chowdhury  Dipto" userId="2b5ddac0-4c64-4558-af27-bf5213435365" providerId="ADAL" clId="{92107F7E-3BC0-45EC-8664-9E8BDAAE8E4A}" dt="2026-09-04T09:26:01.179" v="1239" actId="20577"/>
          <ac:spMkLst>
            <pc:docMk/>
            <pc:sldMk cId="3157174001" sldId="548"/>
            <ac:spMk id="2" creationId="{1D5B1BAA-6DB4-41C5-15F4-A610431628F6}"/>
          </ac:spMkLst>
        </pc:spChg>
        <pc:spChg chg="mod">
          <ac:chgData name="Imran Chowdhury  Dipto" userId="2b5ddac0-4c64-4558-af27-bf5213435365" providerId="ADAL" clId="{92107F7E-3BC0-45EC-8664-9E8BDAAE8E4A}" dt="2026-09-03T15:25:14.963" v="1205" actId="20577"/>
          <ac:spMkLst>
            <pc:docMk/>
            <pc:sldMk cId="3157174001" sldId="548"/>
            <ac:spMk id="3" creationId="{3157B108-453E-AB13-6A4E-0C4BCA6718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B8F7D-9DF9-4D5C-A5C0-CD9BE235298F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F4E84-27C0-48A9-96A3-5E496187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A3F0-9785-DF37-CBCD-9200B3222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6D305-FC1A-93B5-C840-244444812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AACAD-E27C-8EB6-F4B8-CC8017412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55433-4044-FCF2-BCDC-63BED2E0A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3322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B006-507B-B95D-51B0-9B831280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117A5-8B05-6AAE-2962-6B3A5BE09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CB75D-926E-D571-C1B9-32AAE14F9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97589-C3EC-B7BF-0576-0F4BDF53A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8360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D8F1-D532-4FA2-A47C-A3E36C55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2390A-7376-3BBB-C078-A725340DA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8CEA-CC6D-B923-C6B5-5121293E1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6DC48-5BF8-7FD7-B9C2-8FD845908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4794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56E9-D38C-41DF-FD6B-806210CE1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00612-99E4-44B7-D019-E7827E624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7A6D1-10C1-1658-4F58-DB5743FCC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5BA98-506E-4BEC-ABA3-FB31CE8FB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57461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E5BF-12D4-7A72-FCE6-A7ECBBAA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1B9DA-A459-9C52-EF07-6379645F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5ED8E-A0EB-DC57-7AFD-CC40DDEBD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905B1-A6A9-00C5-5748-7CC4B9E9E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383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2FB4F-3C17-6DCC-4FC2-DE3EC08E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738FB-03C6-BB68-1E95-26BFFCCE7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CFAF2-6A05-B20A-2F5D-DCC95B382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E690D-A815-22C4-2C01-50F931C56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742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EDED0-99BD-A0FE-89B3-8CF5CCA8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DFF69-7239-11F6-7E6A-8B9CCB875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D49EA-0D3D-54ED-4130-01134AD52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2CCEE-C1EB-B9BD-6EC4-4B8575AAB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7207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07B6A-2741-542E-B2EF-23D52509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A125B-A192-B3D8-E1A6-9868CE6F9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51204-8069-7651-C4DD-7076CEFE6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2207B-DB64-5634-7963-DA697CD92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5435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C128-59A9-CC4D-BB1C-61BD7B83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80CAF-8FE9-9AD4-AD41-A67D9C81D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A892B-D725-8C80-45ED-6EAB26598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972E6-AD2C-7BC5-2181-38C0EE173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2065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23E0F-9BAC-A86B-E1C2-190831A4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65AEE-D6F3-220D-D7DC-2B190401D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33636-3DC5-4DB4-C089-DB3F2CD1F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CBBE7-EB3E-20A1-B6A3-D0C9EBDF5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4780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C1BC-5415-26DC-D948-35ED2E86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A40EC-9E79-A644-E592-8BF6B5E1C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D4BA9-113E-5B90-E1C2-D07AC052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C1EFE-631D-F001-BAA6-991E76A73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6975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A539-8CF2-2904-5AEB-91F63EF8D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B95BE-ADD1-54F7-F615-02D05F816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A90BD-B43C-057D-DC29-0BB8F8EFA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AC3E2-3D16-E45F-0D3D-70C90AA43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4754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07C59-87D7-87D3-0B23-495F5D70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F42FF-523B-3D54-26BC-85D1190D1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3CD91-9430-258B-C607-3EA1533FC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976F9-62AB-B428-9182-EC3DF5310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0213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9A723-5008-8151-0CCB-18ACA6A6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97FA2-2545-5B32-E5CB-59F5B8412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FEC12-593A-A1BA-0CF3-A148438DD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5D229-C6C9-AB37-479A-1779A9E89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9349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EB607-9107-A725-E6EB-3E8F6CFD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79909-BB41-D309-0D11-E9688504E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149F9-5683-E8DF-4574-6AB9DFB0F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717F0-2648-14F9-B4B1-0AB8CB16A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65714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2ABE2-5B98-3775-FB7F-EFAEDC1E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D52C0-0C7B-5F10-D53B-20355F2E8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A23A-614E-C815-C571-2D66A4B3B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43267-81F2-C2E2-70EF-71DF274C7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95292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0C91-209A-A28D-403F-5C0334E3A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33EB0-E0CC-BA09-A615-A896CB649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2A39D-79A5-04CA-A3A7-7643D703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80394-0CDA-071E-9CE2-6C82D3584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6857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FFEFC-7A42-E56F-F069-C948431F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E44D6-3756-FB46-514E-A4E449694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7C001-483A-329E-1760-AB5B703EE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14E09-B076-D4AD-AE39-F8F30EFF8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5984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FEC5F-BFDB-6639-A982-0176C840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D446C-FAED-8A91-8E29-C4F046C92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49C38-7F43-215F-7346-4A775563D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83CD9-6BF0-1576-EFAA-1804FDA7C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4163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8FE8-9096-3F9D-0AD8-D738AF06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70454-ED59-2E9F-8B10-85C92C53B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01745-9926-4BE3-3718-04406A103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726FF-1DF4-4CB8-4FE4-47C34025E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8348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B483-F0DD-CAAD-1AE9-2E99563B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392D1-6828-B8FF-15A7-A9FF9A680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91823-798B-92BD-02E3-3FD06E8F7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130D7-6E61-A9E2-51F0-0FC48A55A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11259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7820-0E60-5FC7-C1D3-A47CD9B2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54A38-54FD-ADC5-0A5B-FE96D496E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988FE-4A3C-A09C-772D-A76145B3F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192A5-301A-4EE7-408E-62FED5211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17644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4772-1095-EB7D-1B60-C1B55B52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0DC35-9B36-B3BA-DBEC-77CC28308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F8A17-C8A4-E1D3-FE22-EDBBA79E9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55A52-AE36-EA78-828C-15E908799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79464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1303-75DB-1CB6-191E-8F5851FA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F60FC-C7F0-3C27-A7F3-49E11FFCD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412707-4C7C-6645-940A-6D693CFF4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5197-1619-13C2-127F-7B367D434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FF4C2-74DA-1D46-B541-49BD0013B7E1}" type="slidenum">
              <a:rPr lang="en-DE" smtClean="0"/>
              <a:t>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1104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D501-74A8-F70F-B442-934916722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2F5FA-E82C-4DE2-C185-8A83972D2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E0D28-51F3-F9C1-6FCA-9BF17847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60502-BE31-E294-B2D1-293D0A24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5B62A-FEB6-5BBE-AFE0-27910994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B3B9-F9EB-E1DB-361E-E97B9852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46093-BD60-28F3-5905-5421D2425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B6959-3DD3-A4E5-C78A-804CC09E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03884-52A3-EDAA-7BB4-7190912C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C715-4126-EB93-6553-589FF58D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9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5BDA-C076-F662-543A-BE8EE44D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F1D58-5DC4-3D12-06DB-646DD687F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B023A-E971-304D-DCB9-A5C7EE0F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6618D-67B1-52C8-DE5A-CF541C70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E3ECE-D494-6755-84C6-072070D2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9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48C3-02C4-BAEA-DD91-704C87F0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EEE3-B5B8-552D-742C-D430F3D60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F7BB9-8A31-D40A-B296-9DC45FE3D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AAC07-BA6C-17CA-FD47-EC516184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C8675-ECAE-EA06-EFFD-4A120861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E54FD-EC63-0661-3AA3-12CF17E2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6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7F9B-3013-DE0F-A6B4-0BF3AA639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C76CA-BF81-E2E3-AFC5-5613D105F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2281C-1C9B-021F-F30A-4D53BDFC9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47FD1-5A32-3064-E6AF-D96E762E6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D6E73A-0258-99C3-9408-469FD7F82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A347B-10B1-F3CC-5C31-AB04400D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25213-2698-D2AF-BE9B-C879DAD7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01D88-AC8C-F26D-28F7-0A361BE3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51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FD26-0E77-9724-7D9C-87E56E5F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B43B4-AF07-846C-D7D9-5E4C83A9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B0D1F-D398-9A2E-F325-1B235876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A1293-91D5-CBD1-C2D6-92A14AD5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A3C17-024B-AAC9-4C56-D3E82662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54B45-4C06-C7E3-B6A2-EE0973A2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62B0C-CC30-4C2D-D82A-FD9119FF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5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E896-A837-91C8-AD3A-AC157D90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7F5E0-6ED2-9E74-DC8A-2B95D6517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D5079-CC3A-57E2-40E2-072DBAA28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03469-66A7-ED33-D654-C8A32C49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0C6BA-79EF-701B-FA39-4421D0FA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D6EAD-EC7B-C8DE-96B6-7221525F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55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E89A-FFBF-91A8-D44E-6E5DA7718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63FD2-FE9D-372D-3F86-E77FCC503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D91A2-025E-18D2-ADE4-DF93ED049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66D5F-5F7D-B9B6-AD88-8812E85C1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6EA98-C97A-DAF9-3178-CB44F287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15B41-A333-1D6C-6DFD-642444EC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5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E43F-3DDA-435B-47E6-1C8C1D8C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148D8-2275-D7C0-2F04-3C54359F2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86E0-A2C3-AAF0-BC1D-12853DB5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E8910-71EC-BD4D-5E82-DDBB76BB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6991F-6F4F-6437-2D67-4896A964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6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809A1C-6A28-EF8F-3546-79C1DD10F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86128-834F-1236-E8E2-246B42A02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438DD-493F-E414-0B2B-5221C031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37952-F1F9-978C-B3E5-EA607CAE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EF464-DFA5-AC0F-BF48-12065770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05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 cstate="print">
            <a:alphaModFix amt="99000"/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39141" y="1505970"/>
            <a:ext cx="9793483" cy="201070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>
            <a:lvl1pPr marL="98425" indent="0" algn="ctr">
              <a:lnSpc>
                <a:spcPct val="100000"/>
              </a:lnSpc>
              <a:tabLst/>
              <a:defRPr sz="4800" b="1" i="0" cap="none" baseline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39141" y="3912240"/>
            <a:ext cx="9793483" cy="528528"/>
          </a:xfrm>
          <a:noFill/>
        </p:spPr>
        <p:txBody>
          <a:bodyPr>
            <a:normAutofit/>
          </a:bodyPr>
          <a:lstStyle>
            <a:lvl1pPr marL="134938" indent="0" algn="ctr">
              <a:buNone/>
              <a:tabLst/>
              <a:defRPr sz="2800" cap="none" baseline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1239141" y="4760133"/>
            <a:ext cx="9793483" cy="356696"/>
          </a:xfrm>
          <a:noFill/>
        </p:spPr>
        <p:txBody>
          <a:bodyPr>
            <a:noAutofit/>
          </a:bodyPr>
          <a:lstStyle>
            <a:lvl1pPr marL="134938" indent="0" algn="ctr">
              <a:buNone/>
              <a:tabLst/>
              <a:defRPr sz="1600" b="0" i="0" cap="all" baseline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it-IT"/>
              <a:t>PLANET team – DET – Politecnico di Torino – ITALY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D6E1031-129D-44EF-8BAE-DBE2E69619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60017" y="375"/>
            <a:ext cx="4107987" cy="925200"/>
          </a:xfrm>
          <a:noFill/>
        </p:spPr>
        <p:txBody>
          <a:bodyPr wrap="square" lIns="180000" r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1400" kern="1200" cap="all" dirty="0" smtClean="0">
                <a:solidFill>
                  <a:schemeClr val="bg1"/>
                </a:solidFill>
                <a:latin typeface="Montserrat-Regular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add any additional information required</a:t>
            </a:r>
          </a:p>
        </p:txBody>
      </p:sp>
      <p:pic>
        <p:nvPicPr>
          <p:cNvPr id="8" name="Picture 2" descr="C:\Users\bened\Desktop\Planet\Logo optcom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04" y="6501828"/>
            <a:ext cx="1398059" cy="239540"/>
          </a:xfrm>
          <a:prstGeom prst="rect">
            <a:avLst/>
          </a:prstGeom>
          <a:noFill/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AFFE9BD7-B18B-459E-BFFC-9BAC5C46464A}"/>
              </a:ext>
            </a:extLst>
          </p:cNvPr>
          <p:cNvSpPr txBox="1"/>
          <p:nvPr userDrawn="1"/>
        </p:nvSpPr>
        <p:spPr>
          <a:xfrm>
            <a:off x="4688842" y="6474822"/>
            <a:ext cx="2814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bg1"/>
                </a:solidFill>
                <a:latin typeface="Montserrat Alternates Medium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planet.polito.it</a:t>
            </a:r>
          </a:p>
        </p:txBody>
      </p:sp>
      <p:pic>
        <p:nvPicPr>
          <p:cNvPr id="14" name="Picture 3" descr="C:\Users\bened\Desktop\Planet\Logo Planet\Logo+scritta laterale_per sfondo scuro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84938" y="88572"/>
            <a:ext cx="2016486" cy="532117"/>
          </a:xfrm>
          <a:prstGeom prst="rect">
            <a:avLst/>
          </a:prstGeom>
          <a:noFill/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64E18A0-CD59-819E-3BFA-A95AF7BC3F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5" y="16375"/>
            <a:ext cx="1866024" cy="8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28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ex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1624694"/>
            <a:ext cx="5903361" cy="3460491"/>
          </a:xfrm>
        </p:spPr>
        <p:txBody>
          <a:bodyPr/>
          <a:lstStyle>
            <a:lvl1pPr>
              <a:buNone/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0E80BD0-803D-4617-8B07-127AF6E6F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1887200" cy="8388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cap="all" dirty="0">
                <a:solidFill>
                  <a:srgbClr val="1A5D8C"/>
                </a:solidFill>
                <a:latin typeface="Montserrat SemiBold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  <a:tabLst/>
            </a:pPr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734129-92FD-43AB-A4B2-B0A141008E0D}"/>
              </a:ext>
            </a:extLst>
          </p:cNvPr>
          <p:cNvSpPr txBox="1">
            <a:spLocks/>
          </p:cNvSpPr>
          <p:nvPr userDrawn="1"/>
        </p:nvSpPr>
        <p:spPr>
          <a:xfrm>
            <a:off x="81713" y="6422634"/>
            <a:ext cx="514351" cy="38624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ctr" defTabSz="914400" rtl="0" eaLnBrk="1" latinLnBrk="0" hangingPunct="1">
              <a:defRPr sz="1600" kern="1200">
                <a:ln>
                  <a:noFill/>
                </a:ln>
                <a:solidFill>
                  <a:srgbClr val="0F4D7D"/>
                </a:solidFill>
                <a:latin typeface="Montserrat" charset="0"/>
                <a:ea typeface="Montserrat" charset="0"/>
                <a:cs typeface="Montserrat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577DC0-E3FF-7042-8EFC-3A96A6432A2A}" type="slidenum">
              <a:rPr lang="en-US" sz="1600" smtClean="0"/>
              <a:pPr/>
              <a:t>‹#›</a:t>
            </a:fld>
            <a:endParaRPr lang="en-US" sz="16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361C0A39-1049-4698-9BF7-1F322AE226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011" y="1621480"/>
            <a:ext cx="5791989" cy="3460491"/>
          </a:xfrm>
        </p:spPr>
        <p:txBody>
          <a:bodyPr/>
          <a:lstStyle>
            <a:lvl1pPr>
              <a:buNone/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>
              <a:defRPr>
                <a:solidFill>
                  <a:srgbClr val="0F4D7D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7" name="Picture 2" descr="C:\Users\bened\Desktop\Planet\Logo Planet\Logo+scritta laterale_per sfondo scuro_senza acronimo2.png">
            <a:extLst>
              <a:ext uri="{FF2B5EF4-FFF2-40B4-BE49-F238E27FC236}">
                <a16:creationId xmlns:a16="http://schemas.microsoft.com/office/drawing/2014/main" id="{EB4C83FB-2DD8-4437-B867-37016771CD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 l="5461" t="67507" r="21731" b="9125"/>
          <a:stretch>
            <a:fillRect/>
          </a:stretch>
        </p:blipFill>
        <p:spPr bwMode="auto">
          <a:xfrm>
            <a:off x="9840903" y="116633"/>
            <a:ext cx="2240541" cy="5040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749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879C0-F29C-4C0D-CA88-B914B10E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4C1DA-AD56-5CE5-3322-559DD59CD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2800F-D4C3-C4E5-6E67-A9579D48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3CF59-A18C-4D57-9490-8821DC8785C9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6A658-2EBC-48D1-1053-5D7B3FB38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39E8A-DA85-E495-0AF3-A21621ED3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A2EFD-B437-418F-AEB7-DA8492B4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09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73DC-E912-FA83-545D-848596B1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6032-F0AB-BD4F-C920-4AFD43D24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897" y="1541867"/>
            <a:ext cx="10113633" cy="1240755"/>
          </a:xfrm>
        </p:spPr>
        <p:txBody>
          <a:bodyPr>
            <a:noAutofit/>
          </a:bodyPr>
          <a:lstStyle/>
          <a:p>
            <a:r>
              <a:rPr lang="en-US" sz="2400" b="0" dirty="0">
                <a:latin typeface="Montserrat" panose="02000505000000020004" pitchFamily="2" charset="0"/>
              </a:rPr>
              <a:t>Multi-Agent Digital Twin for SLA Management </a:t>
            </a:r>
            <a:r>
              <a:rPr lang="en-US" sz="2400" b="0" dirty="0" err="1">
                <a:latin typeface="Montserrat" panose="02000505000000020004" pitchFamily="2" charset="0"/>
              </a:rPr>
              <a:t>inCoherent</a:t>
            </a:r>
            <a:r>
              <a:rPr lang="en-US" sz="2400" b="0" dirty="0">
                <a:latin typeface="Montserrat" panose="02000505000000020004" pitchFamily="2" charset="0"/>
              </a:rPr>
              <a:t> P2MP Metro-Access Networks</a:t>
            </a:r>
            <a:br>
              <a:rPr lang="en-US" sz="2400" b="0" dirty="0">
                <a:latin typeface="Montserrat" panose="02000505000000020004" pitchFamily="2" charset="0"/>
              </a:rPr>
            </a:br>
            <a:br>
              <a:rPr lang="en-US" sz="3200" b="0" dirty="0">
                <a:latin typeface="Montserrat" panose="02000505000000020004" pitchFamily="2" charset="0"/>
              </a:rPr>
            </a:br>
            <a:endParaRPr lang="en-US" sz="6000" b="0" dirty="0">
              <a:latin typeface="Montserrat" panose="02000505000000020004" pitchFamily="2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AB8067-986A-D44D-7B4F-E702D47DD8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6949" y="-75912"/>
            <a:ext cx="4107987" cy="9252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en-US" baseline="30000" dirty="0"/>
              <a:t>th</a:t>
            </a:r>
            <a:r>
              <a:rPr lang="en-US" dirty="0"/>
              <a:t> September 2026</a:t>
            </a:r>
          </a:p>
        </p:txBody>
      </p:sp>
      <p:pic>
        <p:nvPicPr>
          <p:cNvPr id="6" name="Picture 2" descr="Nokia Logo and symbol, meaning, history, PNG, brand">
            <a:extLst>
              <a:ext uri="{FF2B5EF4-FFF2-40B4-BE49-F238E27FC236}">
                <a16:creationId xmlns:a16="http://schemas.microsoft.com/office/drawing/2014/main" id="{D9E919BF-FCE2-3BF3-6E90-FFC68C52E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8537" y="6069444"/>
            <a:ext cx="1402670" cy="7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ESTOR Doctoral Network ...">
            <a:extLst>
              <a:ext uri="{FF2B5EF4-FFF2-40B4-BE49-F238E27FC236}">
                <a16:creationId xmlns:a16="http://schemas.microsoft.com/office/drawing/2014/main" id="{5C5CF472-DB19-1630-7E9B-C521DFEE0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68" b="26161"/>
          <a:stretch>
            <a:fillRect/>
          </a:stretch>
        </p:blipFill>
        <p:spPr bwMode="auto">
          <a:xfrm>
            <a:off x="8448043" y="6069444"/>
            <a:ext cx="2143125" cy="7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foregio - Download centre for visual ...">
            <a:extLst>
              <a:ext uri="{FF2B5EF4-FFF2-40B4-BE49-F238E27FC236}">
                <a16:creationId xmlns:a16="http://schemas.microsoft.com/office/drawing/2014/main" id="{67DF53F6-27B9-F227-B2F1-D639C99DF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249" y="6144016"/>
            <a:ext cx="2615965" cy="71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88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C559-0385-A95B-E000-43A05EB1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CDF2-7813-86B8-4FCF-D9C116F2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Points to improve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B61B-A48A-B8F8-ABEC-8A33E57C2A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Maintain shared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Collaborate Dynamically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Explain an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Select different workflows for the query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system did not follow the specific guidelines written on the spreadsheet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BFC76-E827-5513-E425-5D37085EBBFB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798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CE87-685A-DCE9-F3C9-BFF210D7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3C20-FC22-C3C5-5AAE-048037BB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Agentic setup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B14F1-B0DD-5165-D025-0D04DD143E09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0F3CA4-84E7-9E2C-957C-217A5D48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17"/>
          <a:stretch>
            <a:fillRect/>
          </a:stretch>
        </p:blipFill>
        <p:spPr>
          <a:xfrm>
            <a:off x="305554" y="838800"/>
            <a:ext cx="11486547" cy="543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61D2-944C-25D1-E9C9-FA1A2C5EB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0AB5-393A-6AC3-C433-C3B5E89F6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Traffic forecasting 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7B0DB-0715-A8B9-0FA8-A32B80D3E1BF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A8BA2-7697-2F5B-B1C2-D4AC909EC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37" b="6475"/>
          <a:stretch>
            <a:fillRect/>
          </a:stretch>
        </p:blipFill>
        <p:spPr>
          <a:xfrm>
            <a:off x="795" y="793622"/>
            <a:ext cx="11885653" cy="50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87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6B1C-797C-1CF1-486D-6B232A6FF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C8B6-48AD-432C-A6B6-4237220E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Network state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2BB82-8E95-27D1-B2F4-590A9A218084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C2EF7A-1E7D-6FFC-137F-0D5CAAC40D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4" b="188"/>
          <a:stretch>
            <a:fillRect/>
          </a:stretch>
        </p:blipFill>
        <p:spPr>
          <a:xfrm>
            <a:off x="369852" y="926674"/>
            <a:ext cx="10396749" cy="3043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F8BB11-1910-7C4A-E652-ECEE5385011D}"/>
              </a:ext>
            </a:extLst>
          </p:cNvPr>
          <p:cNvSpPr txBox="1"/>
          <p:nvPr/>
        </p:nvSpPr>
        <p:spPr>
          <a:xfrm>
            <a:off x="1801978" y="4058456"/>
            <a:ext cx="77662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SLA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states are derived from blocking-ratio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Normal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operations are common during low-demand periods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Degraded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failure-prone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states start after 16:00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Highest </a:t>
            </a: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SLA risk 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occurs during the evening hour window (20:00-24:00)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 forest achieved </a:t>
            </a: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97.2%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classification accuracy over the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results show proactive prediction can be achieved before service disruption</a:t>
            </a:r>
          </a:p>
        </p:txBody>
      </p:sp>
    </p:spTree>
    <p:extLst>
      <p:ext uri="{BB962C8B-B14F-4D97-AF65-F5344CB8AC3E}">
        <p14:creationId xmlns:p14="http://schemas.microsoft.com/office/powerpoint/2010/main" val="346902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2AFE-60F6-4F45-CE34-8353F439B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D8C3-9C03-C366-A423-7F1DCE43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Agent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BCFFA-C7DD-5FB6-07EA-BD67DB3685F8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C2F48-22E3-25C6-BF53-DADB2A9A9C89}"/>
              </a:ext>
            </a:extLst>
          </p:cNvPr>
          <p:cNvSpPr/>
          <p:nvPr/>
        </p:nvSpPr>
        <p:spPr>
          <a:xfrm>
            <a:off x="786861" y="1429660"/>
            <a:ext cx="4213847" cy="235681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Reads the predicted Enterprise, RAN, and PON traffic values from </a:t>
            </a:r>
            <a:r>
              <a:rPr lang="en-US" sz="1400" err="1"/>
              <a:t>XGBoost</a:t>
            </a:r>
            <a:r>
              <a:rPr lang="en-US" sz="1400"/>
              <a:t> regressor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Computes total predicted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Recreates time-of-day features which are used by the Random Forest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Converts each 5-minute interval into a readable time and slot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Loads </a:t>
            </a:r>
            <a:r>
              <a:rPr lang="en-US" sz="1400" err="1"/>
              <a:t>XGBoost</a:t>
            </a:r>
            <a:r>
              <a:rPr lang="en-US" sz="1400"/>
              <a:t> regressor metrics for reporting</a:t>
            </a:r>
            <a:br>
              <a:rPr lang="en-US" sz="1600"/>
            </a:br>
            <a:br>
              <a:rPr lang="en-US" sz="1400"/>
            </a:br>
            <a:endParaRPr lang="en-US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AD389-4B83-6FAF-FC13-D3A603F8C5BE}"/>
              </a:ext>
            </a:extLst>
          </p:cNvPr>
          <p:cNvSpPr/>
          <p:nvPr/>
        </p:nvSpPr>
        <p:spPr>
          <a:xfrm>
            <a:off x="6248380" y="1503386"/>
            <a:ext cx="2959268" cy="21069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Loads pre-trained classifier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Processes forecasted traffic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Predicts network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Computes SLA risk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Forwards risk information to recovery agent</a:t>
            </a:r>
            <a:br>
              <a:rPr lang="en-US" sz="1600"/>
            </a:br>
            <a:br>
              <a:rPr lang="en-US" sz="1600"/>
            </a:br>
            <a:endParaRPr lang="en-US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18EE8-CABB-1EF1-3969-CD893D8C0049}"/>
              </a:ext>
            </a:extLst>
          </p:cNvPr>
          <p:cNvSpPr/>
          <p:nvPr/>
        </p:nvSpPr>
        <p:spPr>
          <a:xfrm>
            <a:off x="5836999" y="4405050"/>
            <a:ext cx="3176415" cy="19209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Receives predicted SLA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Maps states to recovery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Generates proactive mitigation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Passes operations to the operator assistant</a:t>
            </a:r>
            <a:br>
              <a:rPr lang="en-US" sz="1600"/>
            </a:br>
            <a:br>
              <a:rPr lang="en-US" sz="1600"/>
            </a:br>
            <a:endParaRPr 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FC2C5-7B08-9C98-8498-F36F281DFE7A}"/>
              </a:ext>
            </a:extLst>
          </p:cNvPr>
          <p:cNvSpPr txBox="1"/>
          <p:nvPr/>
        </p:nvSpPr>
        <p:spPr>
          <a:xfrm>
            <a:off x="1320230" y="1028913"/>
            <a:ext cx="2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Traffic Forecaster Agent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051084F-3310-0CCB-3F5C-10669D7E037C}"/>
              </a:ext>
            </a:extLst>
          </p:cNvPr>
          <p:cNvSpPr/>
          <p:nvPr/>
        </p:nvSpPr>
        <p:spPr>
          <a:xfrm>
            <a:off x="5474920" y="2332027"/>
            <a:ext cx="362078" cy="165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B08F5-FDD1-2EFD-58F8-A9F316EA35ED}"/>
              </a:ext>
            </a:extLst>
          </p:cNvPr>
          <p:cNvSpPr txBox="1"/>
          <p:nvPr/>
        </p:nvSpPr>
        <p:spPr>
          <a:xfrm>
            <a:off x="6249389" y="1033534"/>
            <a:ext cx="2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SLA Classifier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BD729-8FB5-130A-FB06-DC6CEEC3E73D}"/>
              </a:ext>
            </a:extLst>
          </p:cNvPr>
          <p:cNvSpPr txBox="1"/>
          <p:nvPr/>
        </p:nvSpPr>
        <p:spPr>
          <a:xfrm>
            <a:off x="6364210" y="3991470"/>
            <a:ext cx="2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Recovery Agent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F518F0B-285F-71C4-9B9E-488C082CFDD1}"/>
              </a:ext>
            </a:extLst>
          </p:cNvPr>
          <p:cNvSpPr/>
          <p:nvPr/>
        </p:nvSpPr>
        <p:spPr>
          <a:xfrm rot="5400000">
            <a:off x="7001413" y="3798162"/>
            <a:ext cx="226380" cy="176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BA11F2-E655-8144-D1B9-9C602FB8E94C}"/>
              </a:ext>
            </a:extLst>
          </p:cNvPr>
          <p:cNvSpPr/>
          <p:nvPr/>
        </p:nvSpPr>
        <p:spPr>
          <a:xfrm>
            <a:off x="786860" y="4373933"/>
            <a:ext cx="3826846" cy="235933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Receives Outputs from  the Recovery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Generates natural language explanations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Answers Network Operator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Supports Network decision making</a:t>
            </a:r>
            <a:br>
              <a:rPr lang="en-US"/>
            </a:br>
            <a:br>
              <a:rPr lang="en-US" sz="1600"/>
            </a:br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48E8B6-8960-D277-B023-100165B8164B}"/>
              </a:ext>
            </a:extLst>
          </p:cNvPr>
          <p:cNvSpPr txBox="1"/>
          <p:nvPr/>
        </p:nvSpPr>
        <p:spPr>
          <a:xfrm>
            <a:off x="1097738" y="3993965"/>
            <a:ext cx="2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Assistant Agent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ACB4F1D-7A58-C97C-B9D6-2CF783D5A760}"/>
              </a:ext>
            </a:extLst>
          </p:cNvPr>
          <p:cNvSpPr/>
          <p:nvPr/>
        </p:nvSpPr>
        <p:spPr>
          <a:xfrm rot="10800000">
            <a:off x="5044314" y="5006698"/>
            <a:ext cx="362078" cy="165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9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30307-F592-2BF2-E1F4-56D27177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95C2B-3801-2AE1-B2CC-867F912D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B8E1C-F69D-C6F0-E892-8AC075BC30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r>
              <a:rPr lang="en-US" sz="1600" dirty="0"/>
              <a:t>Reconstruction of the system</a:t>
            </a:r>
          </a:p>
          <a:p>
            <a:pPr marL="800100" lvl="1" indent="-342900"/>
            <a:r>
              <a:rPr lang="en-US" sz="1600" dirty="0"/>
              <a:t>Grounded recovery recommendations in observed subcarrier allocations in mappings with the document</a:t>
            </a:r>
          </a:p>
          <a:p>
            <a:pPr marL="800100" lvl="1" indent="-342900"/>
            <a:r>
              <a:rPr lang="en-US" sz="1600" dirty="0"/>
              <a:t>Creation of an easy to use web application for Demo purpose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6DFC7-711E-51E5-D4CD-DF5058A67A2D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C4019-00CE-B6FD-B294-F1B5A8792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765E-4040-2D53-F68C-212825C7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A53E0-C034-2C2F-3DF0-B130AAD3AE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2105" y="401130"/>
            <a:ext cx="11346196" cy="56422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Forecast overview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“Generate an operational summary for tomorrow”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</a:t>
            </a: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Agent: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recognizes a day-ahead summary request.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Agent: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supplies 288 five-minute traffic intervals.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SLA Agent: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provides state classifications and risk scores.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Guardrail Agent: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attaches the low-confidence warning.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20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produces the concise summary.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Establishes the complete day-ahead operational situation.</a:t>
            </a:r>
          </a:p>
          <a:p>
            <a:endParaRPr lang="en-US" sz="16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3229C-D205-32B3-517F-5814FC73B254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03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ED4A-4C2E-D470-29EB-231264C7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18DA-ECC0-B996-1E47-5C7EBD53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F115A-E0E5-E5AB-FBEC-D79276CF26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568" y="709430"/>
            <a:ext cx="11498864" cy="4813793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SLA-risk detection</a:t>
            </a:r>
            <a:endParaRPr lang="en-US" sz="7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“Tell me the next predicted SLA-risk interval”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selects the </a:t>
            </a:r>
            <a:r>
              <a:rPr lang="en-US" sz="7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next_risk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workflow.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SLA Agent: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identifies the earliest non-normal classification.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Guardrail Agent: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detects low classifier confidence.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explains the interval and warning.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7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Shows proactive identification of the first potential service problem.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72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2BE7D-2636-6A97-4455-A55C3ED12F6E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454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7B1EC-DF35-D791-7718-75F0B0DF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94DD-6632-65C8-E9CC-1E5DA0525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96" y="93032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42B1-C814-7DFD-1BC5-5D7991D1E6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568" y="425678"/>
            <a:ext cx="11498864" cy="55931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Diagnosis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T: “Which service contributes most during the highest-risk interval?”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distinguishes diagnosis from basic forecasting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SLA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locates the highest-risk interval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Diagnosis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compares Enterprise, RAN and PON contributions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identifies RAN as the dominant service.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Moves from detecting risk to explaining the likely contributing service</a:t>
            </a:r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A5829-2E0F-7B1B-369C-208623DEBA3A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695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A0C4D-A214-BCE7-BCA2-FF373C5A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A8DB-78FF-51C1-BEA0-F03DF70A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AAEC6-43D9-C2AE-B6C1-D855251FF9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427" y="419400"/>
            <a:ext cx="11383018" cy="56484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Recovery and allocation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T: “What subcarrier allocation is recommended at the highest-risk interval?”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selects the recovery workflow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Recovery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evaluates the three observed allocations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Recovery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calculates per-service capacities and residual overflow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Guardrail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ensures the recommendation remains advisory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translates allocation codes into readable language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Shows actionable decision support while retaining human approval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BB430-5A22-5363-4A12-F76ABE9E170C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55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3CF0C-9E23-F196-508B-D8762299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4A52-49BF-DEA7-C00B-01B19263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A445E-CE42-967E-FD3D-B9FDC7F450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1" y="752388"/>
            <a:ext cx="11383018" cy="56484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14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Service traffic analysis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T: “When is RAN traffic expected to peak?”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extracts service=ran, selects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service_peak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which result to display 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top_k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searches all 288 RAN forecast intervals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returns the peak time and load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 service specific analytical tool selection</a:t>
            </a:r>
          </a:p>
          <a:p>
            <a:pPr marL="0" indent="0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BF5D5-014C-3559-A4DB-37FC78DD632D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90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7640-1EBB-EBE6-2BFD-38390B39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3B62-8CEA-F2A2-4CB1-AFC0ECAB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2F523-961B-38E9-8135-DEA394CB16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1" y="752388"/>
            <a:ext cx="11383018" cy="56484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lvl="1" indent="0">
              <a:buNone/>
            </a:pPr>
            <a:endParaRPr lang="en-US" sz="1400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Contextual follow-up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T: “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the same for PON”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Assistant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interprets a contextual follow-up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Shared conversational state: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reuses the previous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service_peak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intent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Coordinator: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changes the target service from RAN to PON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Forecast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calculates the corresponding PON peak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Operator Response Agent: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returns the PON result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Demonstrates that the assistant maintains context instead of treating every question as an isolated command</a:t>
            </a:r>
          </a:p>
          <a:p>
            <a:pPr marL="0" indent="0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8EAFA-BEA7-7968-E941-62BC8A83AFA4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097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114B-E796-81C3-C10B-60C5B2E2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0E53-8952-A457-A778-DE5AFAE6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/>
              <a:t>Findings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8D24A-B5E0-43B0-9B65-792D99EC59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Future Work: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Stronger documentation with all relevant policies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Integration of data storage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Device a stronger set of Operator Queries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Agent Analysis, system resource usage tracking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Model fine tuning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/>
              <a:t>Cloud deployment</a:t>
            </a:r>
          </a:p>
          <a:p>
            <a:pPr marL="457200" lvl="1" indent="0">
              <a:buNone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F611D-30CA-A3EF-EF14-7BAA29EA7D99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969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0A9C-2556-2A0D-DD20-7CFDA596C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E62F-E29A-3D9D-44F4-222EC7D96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Changelog 18</a:t>
            </a:r>
            <a:r>
              <a:rPr lang="en-IN" baseline="30000" dirty="0"/>
              <a:t>th</a:t>
            </a:r>
            <a:r>
              <a:rPr lang="en-IN" dirty="0"/>
              <a:t> September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33231-C460-625D-3644-431F414436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Autonomous Tool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Context aware follow up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Test in 50 curated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Enhanced prompting/instruction tuning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0" indent="0"/>
            <a:r>
              <a:rPr lang="en-US" sz="2000" b="1" dirty="0"/>
              <a:t>Policy-aware mathematical execution (PSC): </a:t>
            </a:r>
            <a:r>
              <a:rPr lang="en-US" sz="2000" dirty="0"/>
              <a:t>PCA, MBA, and SAA policies they are executed through deterministic Python policy logic and feed to the Mistral Agent</a:t>
            </a:r>
          </a:p>
          <a:p>
            <a:pPr marL="0" indent="0"/>
            <a:r>
              <a:rPr lang="en-US" sz="2000" b="1" dirty="0"/>
              <a:t>What-if policy simulation: </a:t>
            </a:r>
            <a:r>
              <a:rPr lang="en-US" sz="2000" dirty="0"/>
              <a:t>operators can ask counterfactual questions such as changing SC constraints or replaying a policy at a timestamp. </a:t>
            </a:r>
          </a:p>
          <a:p>
            <a:pPr marL="0" indent="0"/>
            <a:r>
              <a:rPr lang="en-US" sz="2000" b="1" dirty="0"/>
              <a:t>Constraint-aware allocation analysis: </a:t>
            </a:r>
            <a:r>
              <a:rPr lang="en-US" sz="2000" dirty="0"/>
              <a:t>the system can evaluate hard operator constraints, e.g. reserving SCs for PON/RAN, and recompute feasible allocations. </a:t>
            </a:r>
          </a:p>
          <a:p>
            <a:pPr marL="0" indent="0"/>
            <a:r>
              <a:rPr lang="en-US" sz="2000" b="1" dirty="0"/>
              <a:t>LLM + deterministic split: </a:t>
            </a:r>
            <a:r>
              <a:rPr lang="en-US" sz="2000" dirty="0"/>
              <a:t>Mistral decides the intent/tool, while Python performs the traffic, SLA, policy, blocking, and reconfiguration calculations.</a:t>
            </a:r>
          </a:p>
          <a:p>
            <a:pPr marL="0" indent="0"/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A0F2C-729B-F061-C23E-33FA9CFC2380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849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0F60-7DB2-A524-3130-F0CB58CF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9A5A-D0B1-E37E-B502-9D3508E8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1DDF-97C1-2CFB-FF1A-79C5E9EC6D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pPr marL="0" indent="0"/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3239E-FF82-60DC-344B-03F9449E45E4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2A47DAF-B41E-CE4C-8B5C-E10467F663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01" b="6437"/>
          <a:stretch>
            <a:fillRect/>
          </a:stretch>
        </p:blipFill>
        <p:spPr>
          <a:xfrm>
            <a:off x="98596" y="752389"/>
            <a:ext cx="11885653" cy="575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50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8CCF-DDA2-DE97-04EE-052C781E9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FCD0-FE04-F011-6E89-5CAFB4774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Explanation of risk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BD83-139B-1A52-A32F-5493E28386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0" indent="0"/>
            <a:endParaRPr lang="en-GB" sz="2000" dirty="0"/>
          </a:p>
          <a:p>
            <a:pPr marL="457200" lvl="1" indent="0">
              <a:buNone/>
            </a:pPr>
            <a:r>
              <a:rPr lang="en-GB" sz="2000" dirty="0"/>
              <a:t>Risk(t)=P(</a:t>
            </a:r>
            <a:r>
              <a:rPr lang="en-GB" sz="2000" dirty="0" err="1"/>
              <a:t>SLAstate</a:t>
            </a:r>
            <a:r>
              <a:rPr lang="en-GB" sz="2000" dirty="0"/>
              <a:t>​=</a:t>
            </a:r>
            <a:r>
              <a:rPr lang="en-GB" sz="2000" dirty="0" err="1"/>
              <a:t>Failure-prone∣Xt</a:t>
            </a:r>
            <a:r>
              <a:rPr lang="en-GB" sz="2000" dirty="0"/>
              <a:t>​) </a:t>
            </a:r>
          </a:p>
          <a:p>
            <a:pPr marL="457200" lvl="1" indent="0">
              <a:buNone/>
            </a:pPr>
            <a:r>
              <a:rPr lang="en-GB" sz="2000" dirty="0"/>
              <a:t>Where:</a:t>
            </a:r>
          </a:p>
          <a:p>
            <a:pPr marL="457200" lvl="1" indent="0">
              <a:buNone/>
            </a:pPr>
            <a:r>
              <a:rPr lang="en-GB" sz="2000" dirty="0"/>
              <a:t>𝑋_𝑡={𝑡ⓜ,𝑟ⓜ,𝑎ⓜ,𝑓ⓜ,𝑓𝑖𝑐_𝑡 " " 𝑝𝑜𝑙𝑖𝑐𝑦" " 𝑠𝑡𝑎𝑡𝑒_𝑡 " " 𝑎𝑙𝑙𝑜𝑐𝑎𝑡𝑖𝑜𝑛" " 𝑓𝑒𝑎𝑡𝑢𝑟𝑒𝑠_𝑡 " " 𝑏𝑙𝑜𝑐𝑘𝑖𝑛𝑔_𝑡 " " 𝑟𝑒𝑐𝑜𝑛𝑓𝑖𝑔𝑢𝑟𝑎𝑡𝑖𝑜𝑛_𝑡 }</a:t>
            </a:r>
          </a:p>
          <a:p>
            <a:pPr marL="457200" lvl="1" indent="0">
              <a:buNone/>
            </a:pPr>
            <a:r>
              <a:rPr lang="en-GB" sz="2000" dirty="0"/>
              <a:t>Hence:</a:t>
            </a:r>
          </a:p>
          <a:p>
            <a:pPr marL="457200" lvl="1" indent="0">
              <a:buNone/>
            </a:pPr>
            <a:r>
              <a:rPr lang="en-GB" sz="2000" b="1" dirty="0"/>
              <a:t>Input: </a:t>
            </a:r>
            <a:r>
              <a:rPr lang="en-GB" sz="2000" dirty="0"/>
              <a:t>predicted traffic + network/policy features at timestamp 𝑡</a:t>
            </a:r>
          </a:p>
          <a:p>
            <a:pPr marL="457200" lvl="1" indent="0">
              <a:buNone/>
            </a:pPr>
            <a:r>
              <a:rPr lang="en-GB" sz="2000" b="1" dirty="0"/>
              <a:t>Model output: </a:t>
            </a:r>
            <a:r>
              <a:rPr lang="en-GB" sz="2000" dirty="0"/>
              <a:t>Failure-prone probability/risk score </a:t>
            </a:r>
          </a:p>
          <a:p>
            <a:pPr marL="457200" lvl="1" indent="0">
              <a:buNone/>
            </a:pPr>
            <a:r>
              <a:rPr lang="en-GB" sz="2000" dirty="0"/>
              <a:t>Displayed result: SLA state + risk percentage </a:t>
            </a:r>
          </a:p>
          <a:p>
            <a:pPr marL="457200" lvl="1" indent="0">
              <a:buNone/>
            </a:pPr>
            <a:r>
              <a:rPr lang="en-GB" sz="2000" b="1" dirty="0"/>
              <a:t>Example: </a:t>
            </a:r>
            <a:r>
              <a:rPr lang="en-GB" sz="2000" dirty="0"/>
              <a:t>at 21:15, SLA state = Normal, Failure-prone risk = 12%</a:t>
            </a:r>
          </a:p>
          <a:p>
            <a:pPr marL="457200" lvl="1" indent="0">
              <a:buNone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D624B-9BF4-BCAB-CA9B-2F35126C628C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12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D971-70AA-ED89-5D46-F6D2644C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9BC8-A7B8-103F-27AA-F4D68A13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34376-E169-1D87-5192-47D65F7950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Traffic Prediction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get_traffic_forecast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SLA Risk/State Prediction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get_sla_prediction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SLA Risk Explanation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explain_sla_risk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Full Network State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get_network_state_at_time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Policy Comparison &amp; Recommendation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compare_policies_at_time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Policy Counterfactual Simulation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simulate_policy_at_time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SC Constraint Analysis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analyze_constrained_allocation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Temporal Network Comparison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compare_network_states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Risk/Peak Interval Discovery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find_risk_intervals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Time-Range Summary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summarize_time_range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Context Clarification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request_clarification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Physical-Layer Scope Guardrail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decline_physical_layer</a:t>
            </a:r>
            <a:r>
              <a:rPr lang="en-US" sz="1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General Out-of-Scope Guardrail</a:t>
            </a:r>
            <a:r>
              <a:rPr lang="en-US" sz="1400" dirty="0"/>
              <a:t> — </a:t>
            </a:r>
            <a:r>
              <a:rPr lang="en-US" sz="1400" dirty="0" err="1">
                <a:latin typeface="Courier New" panose="02070309020205020404" pitchFamily="49" charset="0"/>
              </a:rPr>
              <a:t>decline_out_of_scope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903B8-F308-A847-CE4D-EE18EC0ABD9A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927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667A8-DCA2-02C1-2D0C-C730BAAE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69CC-E432-96D1-EB47-862199E2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Evaluation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EBB5E-ECF0-7FF5-347B-2E75797E5B2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72788" y="556007"/>
                <a:ext cx="11426771" cy="5924573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endParaRPr lang="en-US" sz="1100" dirty="0"/>
              </a:p>
              <a:p>
                <a:pPr marL="800100" lvl="1" indent="-342900"/>
                <a:endParaRPr lang="en-US" sz="1100" i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800" b="0" i="0"/>
                        <m:t>Tool Accuracy</m:t>
                      </m:r>
                      <m:r>
                        <a:rPr lang="en-US" sz="18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Correct tool selections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800" b="0" i="0">
                              <a:latin typeface="Cambria Math" panose="02040503050406030204" pitchFamily="18" charset="0"/>
                            </a:rPr>
                            <m:t>Total queries</m:t>
                          </m:r>
                        </m:den>
                      </m:f>
                      <m:r>
                        <a:rPr lang="en-US" sz="1800" b="0" i="0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sz="1800" b="0" dirty="0"/>
              </a:p>
              <a:p>
                <a:pPr>
                  <a:buNone/>
                </a:pPr>
                <a:r>
                  <a:rPr lang="en-US" sz="1800" dirty="0"/>
                  <a:t>Argument Accuracy=Total queries / Queries with correct extracted arguments ​× 100</a:t>
                </a:r>
              </a:p>
              <a:p>
                <a:pPr>
                  <a:buNone/>
                </a:pPr>
                <a:endParaRPr lang="en-US" sz="1800" dirty="0"/>
              </a:p>
              <a:p>
                <a:pPr>
                  <a:buNone/>
                </a:pPr>
                <a:r>
                  <a:rPr lang="en-US" dirty="0"/>
                  <a:t>	   Hallucination Rate = Queries with unsupported LLM claims / 	total queries​ × 100</a:t>
                </a:r>
              </a:p>
              <a:p>
                <a:pPr>
                  <a:buNone/>
                </a:pPr>
                <a:r>
                  <a:rPr lang="en-US" dirty="0"/>
                  <a:t>		6 / 50 x 100 = 12%</a:t>
                </a:r>
              </a:p>
              <a:p>
                <a:pPr marL="457200" lvl="1" indent="0">
                  <a:buNone/>
                </a:pPr>
                <a:endParaRPr lang="en-GB" sz="2800" dirty="0"/>
              </a:p>
              <a:p>
                <a:pPr marL="457200" lvl="1" indent="0">
                  <a:buNone/>
                </a:pPr>
                <a:r>
                  <a:rPr lang="en-US" sz="2800" dirty="0"/>
                  <a:t>Combined Average Accuracy = (Tool Accuracy + Argument Accuracy) / 2 = (74 + 56) / 2 = 65%	</a:t>
                </a:r>
                <a:endParaRPr lang="en-US" sz="1400" i="1" dirty="0"/>
              </a:p>
              <a:p>
                <a:endParaRPr lang="en-US" sz="1100" dirty="0"/>
              </a:p>
              <a:p>
                <a:endParaRPr lang="en-US" sz="1100" dirty="0"/>
              </a:p>
              <a:p>
                <a:endParaRPr lang="en-IN" sz="1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EBB5E-ECF0-7FF5-347B-2E75797E5B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72788" y="556007"/>
                <a:ext cx="11426771" cy="5924573"/>
              </a:xfrm>
              <a:blipFill>
                <a:blip r:embed="rId3"/>
                <a:stretch>
                  <a:fillRect l="-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684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C2F6-9F79-33A7-76FC-2774DB35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F4F5-9009-FCC1-1542-85E4687F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Todays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5AB5-7FE8-25C8-B84E-698086E31C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2788" y="556007"/>
            <a:ext cx="11426771" cy="5924573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r>
              <a:rPr lang="en-US" sz="1800" b="1" dirty="0"/>
              <a:t>1. What traffic do you expect at 21:15?</a:t>
            </a:r>
          </a:p>
          <a:p>
            <a:endParaRPr lang="en-US" sz="1800" b="1" dirty="0"/>
          </a:p>
          <a:p>
            <a:r>
              <a:rPr lang="en-US" sz="1800" b="1" dirty="0"/>
              <a:t>2. What is the predicted SLA state at 21:15?</a:t>
            </a:r>
          </a:p>
          <a:p>
            <a:endParaRPr lang="en-US" sz="1800" b="1" dirty="0"/>
          </a:p>
          <a:p>
            <a:r>
              <a:rPr lang="en-US" sz="1800" b="1" dirty="0"/>
              <a:t>3. Show me the complete network state at 16:20.</a:t>
            </a:r>
          </a:p>
          <a:p>
            <a:endParaRPr lang="en-US" sz="1800" b="1" dirty="0"/>
          </a:p>
          <a:p>
            <a:r>
              <a:rPr lang="en-US" sz="1800" b="1" dirty="0"/>
              <a:t>4. Keep PON on 2 subcarriers at 21:15 and allocate the remaining two.</a:t>
            </a:r>
          </a:p>
          <a:p>
            <a:endParaRPr lang="en-US" sz="1800" b="1" dirty="0"/>
          </a:p>
          <a:p>
            <a:r>
              <a:rPr lang="en-US" sz="1800" b="1" dirty="0"/>
              <a:t>5. Reserve 1 subcarrier for PON at 21:15 and allocate the remaining three.</a:t>
            </a:r>
          </a:p>
          <a:p>
            <a:endParaRPr lang="en-US" sz="1800" b="1" dirty="0"/>
          </a:p>
          <a:p>
            <a:r>
              <a:rPr lang="en-US" sz="1800" b="1" dirty="0"/>
              <a:t>6. And one hour later?</a:t>
            </a:r>
          </a:p>
          <a:p>
            <a:endParaRPr lang="en-US" sz="1800" b="1" dirty="0"/>
          </a:p>
          <a:p>
            <a:r>
              <a:rPr lang="en-US" sz="1800" b="1" dirty="0"/>
              <a:t>   System → Which time should I use as the reference?</a:t>
            </a:r>
          </a:p>
          <a:p>
            <a:endParaRPr lang="en-US" sz="1800" b="1" dirty="0"/>
          </a:p>
          <a:p>
            <a:r>
              <a:rPr lang="en-US" sz="1800" b="1" dirty="0"/>
              <a:t>7. 10:00</a:t>
            </a:r>
          </a:p>
          <a:p>
            <a:endParaRPr lang="en-US" sz="1100" dirty="0"/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15198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EA979-33B5-10D2-686C-600AB33E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54E8-E5AB-2835-7534-58A9CC6F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55" y="0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D660-20CA-F2D1-0EEC-180BEFD123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580" y="752388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1100" dirty="0"/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Access to Physical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Larger Mesh network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Integration of live telemetry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Devising comprehensive set of training queries probably in different language variants as well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Fine tuning the model for latency reduction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Compare the current results with the fine-tune dataset</a:t>
            </a:r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20CB5-9551-CB24-871C-3A7780F1B480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745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08E0E-37FC-417C-2570-657D781B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E84B-174E-DB7C-FB54-44915FFDE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1" y="872419"/>
            <a:ext cx="11885653" cy="838800"/>
          </a:xfrm>
        </p:spPr>
        <p:txBody>
          <a:bodyPr anchor="ctr">
            <a:normAutofit fontScale="90000"/>
          </a:bodyPr>
          <a:lstStyle/>
          <a:p>
            <a:r>
              <a:rPr lang="en-IN" dirty="0"/>
              <a:t>OFC 2026: OPTS – A Fine tuned </a:t>
            </a:r>
            <a:r>
              <a:rPr lang="en-IN" dirty="0" err="1"/>
              <a:t>slm</a:t>
            </a:r>
            <a:r>
              <a:rPr lang="en-IN" dirty="0"/>
              <a:t> for transceiver data </a:t>
            </a:r>
            <a:r>
              <a:rPr lang="en-IN" dirty="0" err="1"/>
              <a:t>extration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0D69-F46F-22D9-3624-E0952348E7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613" y="1711219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100" dirty="0"/>
              <a:t> </a:t>
            </a:r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Converts optical transceiver PDF datasheets into editable Markdown using PyMuPDF4LLM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Extracts parameters such as wavelength, baud rate, modulation, FEC, optical power and reach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Uses a local Qwen model through llama-server, keeping datasheet content on the user’s machine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Separates atomic parameter extraction from operational mode synthesis to improve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Validates outputs with </a:t>
            </a:r>
            <a:r>
              <a:rPr lang="en-GB" sz="2000" dirty="0" err="1"/>
              <a:t>Pydantic</a:t>
            </a:r>
            <a:r>
              <a:rPr lang="en-GB" sz="2000" dirty="0"/>
              <a:t> and stores the source text, raw model response and structured JSON for review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2B353-681E-CD2A-1531-04BF872A9EA0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013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D2291-E15A-8D05-7D16-7FB6C770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9C53C-2DC4-BFCB-28E1-ACCFD337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1" y="872419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9A672-AE9D-8150-1140-A40CC7B030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613" y="1711219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100" dirty="0"/>
              <a:t> </a:t>
            </a:r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Automate the conversion of vendor optical transceiver datasheets into validated, machine-readable specifications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Faster transceiver comparison and selection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Network planning and link feasibility assessment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Automated standards and interoperability checks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Capability-based equipment inventory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Reduced manual effort and parameter-entry errors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5688AD-0BD2-A2E9-AF09-320716AD2F6B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53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C328C-D34D-40E6-7DD2-0DD1B8725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A05B-B309-A341-4923-55C5BE99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1" y="872419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proposed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72A75-34EE-65D0-6F59-A74DF78A49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2613" y="1711219"/>
            <a:ext cx="11426771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100" dirty="0"/>
              <a:t> </a:t>
            </a:r>
          </a:p>
          <a:p>
            <a:pPr marL="800100" lvl="1" indent="-342900"/>
            <a:endParaRPr lang="en-US" sz="11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Develop a fine-tuned small language model (SLLM) that learns to extract optical transceiver parameters from datasheets accurately and return schema-valid 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Fine-tune a compact Qwen 4B model using human verified datasheet and JSON pairs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Train it on separate tasks for parameter extraction, mode discovery and scope resolution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constrained JSON generation and </a:t>
            </a:r>
            <a:r>
              <a:rPr lang="en-US" sz="2000" dirty="0" err="1"/>
              <a:t>Pydantic</a:t>
            </a:r>
            <a:r>
              <a:rPr lang="en-US" sz="2000" dirty="0"/>
              <a:t> validation to ensure valid outputs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Compare the original 4B model with the fine-tuned version for accuracy, hallucination rate and latency </a:t>
            </a:r>
          </a:p>
          <a:p>
            <a:pPr marL="0" indent="0"/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5182B-2FCD-55DA-7B55-E183751B1572}"/>
              </a:ext>
            </a:extLst>
          </p:cNvPr>
          <p:cNvSpPr txBox="1"/>
          <p:nvPr/>
        </p:nvSpPr>
        <p:spPr>
          <a:xfrm>
            <a:off x="8976320" y="285293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252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6C84-AB3D-4D55-AB43-4FA53237C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9681-4C18-F8F9-E1B2-BE43056D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1" y="872419"/>
            <a:ext cx="11885653" cy="838800"/>
          </a:xfrm>
        </p:spPr>
        <p:txBody>
          <a:bodyPr anchor="ctr">
            <a:normAutofit/>
          </a:bodyPr>
          <a:lstStyle/>
          <a:p>
            <a:r>
              <a:rPr lang="en-IN" dirty="0"/>
              <a:t>Potential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C0D13-CE0F-88F7-BFA0-F4A44D81DD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409049" y="1570070"/>
            <a:ext cx="12204195" cy="481379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100" dirty="0"/>
              <a:t> </a:t>
            </a:r>
          </a:p>
          <a:p>
            <a:pPr marL="800100" lvl="1" indent="-342900"/>
            <a:r>
              <a:rPr lang="en-US" sz="1400" b="1" dirty="0"/>
              <a:t>Capability ingestion: </a:t>
            </a:r>
            <a:r>
              <a:rPr lang="en-US" sz="1400" dirty="0"/>
              <a:t>Populate the digital twin with supported rates, modulation formats, FEC, power limits and reach</a:t>
            </a:r>
          </a:p>
          <a:p>
            <a:pPr marL="800100" lvl="1" indent="-342900"/>
            <a:r>
              <a:rPr lang="en-US" sz="1400" b="1" dirty="0"/>
              <a:t>Device compatibility: </a:t>
            </a:r>
            <a:r>
              <a:rPr lang="en-US" sz="1400" dirty="0"/>
              <a:t>Check whether a transceiver supports a requested link or operational configuration </a:t>
            </a:r>
          </a:p>
          <a:p>
            <a:pPr marL="800100" lvl="1" indent="-342900"/>
            <a:r>
              <a:rPr lang="en-US" sz="1400" b="1" dirty="0"/>
              <a:t>Configuration support: </a:t>
            </a:r>
            <a:r>
              <a:rPr lang="en-US" sz="1400" dirty="0"/>
              <a:t>Identify valid operating modes and prevent unsupported parameter combinations</a:t>
            </a:r>
          </a:p>
          <a:p>
            <a:pPr marL="800100" lvl="1" indent="-342900"/>
            <a:r>
              <a:rPr lang="en-US" sz="1400" b="1" dirty="0"/>
              <a:t>Planning input: </a:t>
            </a:r>
            <a:r>
              <a:rPr lang="en-US" sz="1400" dirty="0"/>
              <a:t>Supply structured equipment constraints to link-budget, spectrum-allocation and path-planning tools</a:t>
            </a:r>
          </a:p>
          <a:p>
            <a:pPr marL="457200" lvl="1" indent="0">
              <a:buNone/>
            </a:pPr>
            <a:endParaRPr lang="en-US" sz="1400" i="1" dirty="0"/>
          </a:p>
          <a:p>
            <a:pPr marL="0" indent="0"/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100" i="1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36E68-F0AC-25B3-3BE2-A313643C222E}"/>
              </a:ext>
            </a:extLst>
          </p:cNvPr>
          <p:cNvSpPr txBox="1"/>
          <p:nvPr/>
        </p:nvSpPr>
        <p:spPr>
          <a:xfrm>
            <a:off x="8773802" y="2779293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err="1">
              <a:solidFill>
                <a:schemeClr val="accent2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079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2555</TotalTime>
  <Words>1590</Words>
  <Application>Microsoft Office PowerPoint</Application>
  <PresentationFormat>Widescreen</PresentationFormat>
  <Paragraphs>301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Courier New</vt:lpstr>
      <vt:lpstr>Montserrat</vt:lpstr>
      <vt:lpstr>Montserrat Alternates Medium</vt:lpstr>
      <vt:lpstr>Montserrat SemiBold</vt:lpstr>
      <vt:lpstr>Montserrat-Regular</vt:lpstr>
      <vt:lpstr>Open Sans</vt:lpstr>
      <vt:lpstr>Symbol</vt:lpstr>
      <vt:lpstr>Wingdings</vt:lpstr>
      <vt:lpstr>Office Theme</vt:lpstr>
      <vt:lpstr>Multi-Agent Digital Twin for SLA Management inCoherent P2MP Metro-Access Networks  </vt:lpstr>
      <vt:lpstr>Points to improve on</vt:lpstr>
      <vt:lpstr>Agentic setup</vt:lpstr>
      <vt:lpstr>Traffic forecasting result</vt:lpstr>
      <vt:lpstr>Network state classification</vt:lpstr>
      <vt:lpstr>Agent architecture</vt:lpstr>
      <vt:lpstr>changes</vt:lpstr>
      <vt:lpstr>Todays demo</vt:lpstr>
      <vt:lpstr>Todays demo</vt:lpstr>
      <vt:lpstr>Todays demo</vt:lpstr>
      <vt:lpstr>Todays demo</vt:lpstr>
      <vt:lpstr>Todays demo</vt:lpstr>
      <vt:lpstr>Todays demo</vt:lpstr>
      <vt:lpstr>Findings and future work</vt:lpstr>
      <vt:lpstr>Changelog 18th September 2026</vt:lpstr>
      <vt:lpstr>architecture</vt:lpstr>
      <vt:lpstr>Explanation of risk scores</vt:lpstr>
      <vt:lpstr>tools</vt:lpstr>
      <vt:lpstr>Evaluation steps</vt:lpstr>
      <vt:lpstr>Todays demo</vt:lpstr>
      <vt:lpstr>Moving forward</vt:lpstr>
      <vt:lpstr>OFC 2026: OPTS – A Fine tuned slm for transceiver data extration</vt:lpstr>
      <vt:lpstr>Use case</vt:lpstr>
      <vt:lpstr>proposed idea</vt:lpstr>
      <vt:lpstr>Potential use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Zeb  Sanwal</dc:creator>
  <cp:lastModifiedBy>Imran Chowdhury  Dipto</cp:lastModifiedBy>
  <cp:revision>52</cp:revision>
  <dcterms:created xsi:type="dcterms:W3CDTF">2026-06-15T07:38:28Z</dcterms:created>
  <dcterms:modified xsi:type="dcterms:W3CDTF">2026-09-15T07:57:41Z</dcterms:modified>
</cp:coreProperties>
</file>
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20"/>
  </p:notesMasterIdLst>
  <p:sldIdLst>
    <p:sldId id="514" r:id="rId2"/>
    <p:sldId id="541" r:id="rId3"/>
    <p:sldId id="517" r:id="rId4"/>
    <p:sldId id="518" r:id="rId5"/>
    <p:sldId id="520" r:id="rId6"/>
    <p:sldId id="537" r:id="rId7"/>
    <p:sldId id="548" r:id="rId8"/>
    <p:sldId id="549" r:id="rId9"/>
    <p:sldId id="550" r:id="rId10"/>
    <p:sldId id="552" r:id="rId11"/>
    <p:sldId id="554" r:id="rId12"/>
    <p:sldId id="555" r:id="rId13"/>
    <p:sldId id="556" r:id="rId14"/>
    <p:sldId id="543" r:id="rId15"/>
    <p:sldId id="557" r:id="rId16"/>
    <p:sldId id="558" r:id="rId17"/>
    <p:sldId id="560" r:id="rId18"/>
    <p:sldId id="561" r:id="rId19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306B69EC-25FE-4E5F-8B07-D3F4A9AAE1F3}" v="2" dt="2026-09-03T15:10:11.949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04" d="100"/>
          <a:sy n="104" d="100"/>
        </p:scale>
        <p:origin x="284" y="8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microsoft.com/office/2015/10/relationships/revisionInfo" Target="revisionInfo.xml"/><Relationship Id="rId3" Type="http://schemas.openxmlformats.org/officeDocument/2006/relationships/slide" Target="slides/slide2.xml"/><Relationship Id="rId21" Type="http://schemas.openxmlformats.org/officeDocument/2006/relationships/presProps" Target="pres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microsoft.com/office/2016/11/relationships/changesInfo" Target="changesInfos/changesInfo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notesMaster" Target="notesMasters/notes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viewProps" Target="view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Imran Chowdhury  Dipto" userId="2b5ddac0-4c64-4558-af27-bf5213435365" providerId="ADAL" clId="{92107F7E-3BC0-45EC-8664-9E8BDAAE8E4A}"/>
    <pc:docChg chg="undo custSel addSld delSld modSld sldOrd">
      <pc:chgData name="Imran Chowdhury  Dipto" userId="2b5ddac0-4c64-4558-af27-bf5213435365" providerId="ADAL" clId="{92107F7E-3BC0-45EC-8664-9E8BDAAE8E4A}" dt="2026-09-04T09:26:01.179" v="1239" actId="20577"/>
      <pc:docMkLst>
        <pc:docMk/>
      </pc:docMkLst>
      <pc:sldChg chg="delSp modSp mod">
        <pc:chgData name="Imran Chowdhury  Dipto" userId="2b5ddac0-4c64-4558-af27-bf5213435365" providerId="ADAL" clId="{92107F7E-3BC0-45EC-8664-9E8BDAAE8E4A}" dt="2026-09-03T10:51:20.446" v="792" actId="20577"/>
        <pc:sldMkLst>
          <pc:docMk/>
          <pc:sldMk cId="2848888429" sldId="514"/>
        </pc:sldMkLst>
        <pc:spChg chg="mod">
          <ac:chgData name="Imran Chowdhury  Dipto" userId="2b5ddac0-4c64-4558-af27-bf5213435365" providerId="ADAL" clId="{92107F7E-3BC0-45EC-8664-9E8BDAAE8E4A}" dt="2026-09-03T10:50:50.711" v="773"/>
          <ac:spMkLst>
            <pc:docMk/>
            <pc:sldMk cId="2848888429" sldId="514"/>
            <ac:spMk id="2" creationId="{A7A76032-F0AB-BD4F-C920-4AFD43D242E9}"/>
          </ac:spMkLst>
        </pc:spChg>
        <pc:spChg chg="mod">
          <ac:chgData name="Imran Chowdhury  Dipto" userId="2b5ddac0-4c64-4558-af27-bf5213435365" providerId="ADAL" clId="{92107F7E-3BC0-45EC-8664-9E8BDAAE8E4A}" dt="2026-09-03T10:51:20.446" v="792" actId="20577"/>
          <ac:spMkLst>
            <pc:docMk/>
            <pc:sldMk cId="2848888429" sldId="514"/>
            <ac:spMk id="9" creationId="{22AB8067-986A-D44D-7B4F-E702D47DD8CE}"/>
          </ac:spMkLst>
        </pc:spChg>
      </pc:sldChg>
      <pc:sldChg chg="modSp del mod">
        <pc:chgData name="Imran Chowdhury  Dipto" userId="2b5ddac0-4c64-4558-af27-bf5213435365" providerId="ADAL" clId="{92107F7E-3BC0-45EC-8664-9E8BDAAE8E4A}" dt="2026-09-03T10:51:55.980" v="808" actId="2696"/>
        <pc:sldMkLst>
          <pc:docMk/>
          <pc:sldMk cId="68634754" sldId="515"/>
        </pc:sldMkLst>
        <pc:spChg chg="mod">
          <ac:chgData name="Imran Chowdhury  Dipto" userId="2b5ddac0-4c64-4558-af27-bf5213435365" providerId="ADAL" clId="{92107F7E-3BC0-45EC-8664-9E8BDAAE8E4A}" dt="2026-09-03T10:51:49.596" v="807" actId="20577"/>
          <ac:spMkLst>
            <pc:docMk/>
            <pc:sldMk cId="68634754" sldId="515"/>
            <ac:spMk id="2" creationId="{9340369C-E391-822E-CE7B-F86978A8D0F8}"/>
          </ac:spMkLst>
        </pc:spChg>
      </pc:sldChg>
      <pc:sldChg chg="modSp mod">
        <pc:chgData name="Imran Chowdhury  Dipto" userId="2b5ddac0-4c64-4558-af27-bf5213435365" providerId="ADAL" clId="{92107F7E-3BC0-45EC-8664-9E8BDAAE8E4A}" dt="2026-09-04T09:23:28.676" v="1227" actId="20577"/>
        <pc:sldMkLst>
          <pc:docMk/>
          <pc:sldMk cId="2340798936" sldId="541"/>
        </pc:sldMkLst>
        <pc:spChg chg="mod">
          <ac:chgData name="Imran Chowdhury  Dipto" userId="2b5ddac0-4c64-4558-af27-bf5213435365" providerId="ADAL" clId="{92107F7E-3BC0-45EC-8664-9E8BDAAE8E4A}" dt="2026-09-04T09:23:28.676" v="1227" actId="20577"/>
          <ac:spMkLst>
            <pc:docMk/>
            <pc:sldMk cId="2340798936" sldId="541"/>
            <ac:spMk id="2" creationId="{2E97CDF2-7813-86B8-4FCF-D9C116F2F3D6}"/>
          </ac:spMkLst>
        </pc:spChg>
        <pc:spChg chg="mod">
          <ac:chgData name="Imran Chowdhury  Dipto" userId="2b5ddac0-4c64-4558-af27-bf5213435365" providerId="ADAL" clId="{92107F7E-3BC0-45EC-8664-9E8BDAAE8E4A}" dt="2026-09-03T15:22:59.672" v="1078" actId="20577"/>
          <ac:spMkLst>
            <pc:docMk/>
            <pc:sldMk cId="2340798936" sldId="541"/>
            <ac:spMk id="3" creationId="{B76AB61B-A48A-B8F8-ABEC-8A33E57C2A68}"/>
          </ac:spMkLst>
        </pc:spChg>
      </pc:sldChg>
      <pc:sldChg chg="modSp add mod">
        <pc:chgData name="Imran Chowdhury  Dipto" userId="2b5ddac0-4c64-4558-af27-bf5213435365" providerId="ADAL" clId="{92107F7E-3BC0-45EC-8664-9E8BDAAE8E4A}" dt="2026-09-03T15:10:11.948" v="985"/>
        <pc:sldMkLst>
          <pc:docMk/>
          <pc:sldMk cId="1822711931" sldId="546"/>
        </pc:sldMkLst>
        <pc:spChg chg="mod">
          <ac:chgData name="Imran Chowdhury  Dipto" userId="2b5ddac0-4c64-4558-af27-bf5213435365" providerId="ADAL" clId="{92107F7E-3BC0-45EC-8664-9E8BDAAE8E4A}" dt="2026-09-03T15:10:04.218" v="983" actId="20577"/>
          <ac:spMkLst>
            <pc:docMk/>
            <pc:sldMk cId="1822711931" sldId="546"/>
            <ac:spMk id="2" creationId="{907285A0-6A58-7484-3419-FDBFCAFC26CE}"/>
          </ac:spMkLst>
        </pc:spChg>
        <pc:spChg chg="mod">
          <ac:chgData name="Imran Chowdhury  Dipto" userId="2b5ddac0-4c64-4558-af27-bf5213435365" providerId="ADAL" clId="{92107F7E-3BC0-45EC-8664-9E8BDAAE8E4A}" dt="2026-09-03T15:10:11.948" v="985"/>
          <ac:spMkLst>
            <pc:docMk/>
            <pc:sldMk cId="1822711931" sldId="546"/>
            <ac:spMk id="3" creationId="{416B8B42-98C4-6FC2-8765-21A4A33F21DB}"/>
          </ac:spMkLst>
        </pc:spChg>
      </pc:sldChg>
      <pc:sldChg chg="modSp add mod">
        <pc:chgData name="Imran Chowdhury  Dipto" userId="2b5ddac0-4c64-4558-af27-bf5213435365" providerId="ADAL" clId="{92107F7E-3BC0-45EC-8664-9E8BDAAE8E4A}" dt="2026-09-03T15:24:13.481" v="1092" actId="20577"/>
        <pc:sldMkLst>
          <pc:docMk/>
          <pc:sldMk cId="1759439002" sldId="547"/>
        </pc:sldMkLst>
        <pc:spChg chg="mod">
          <ac:chgData name="Imran Chowdhury  Dipto" userId="2b5ddac0-4c64-4558-af27-bf5213435365" providerId="ADAL" clId="{92107F7E-3BC0-45EC-8664-9E8BDAAE8E4A}" dt="2026-09-03T15:24:13.481" v="1092" actId="20577"/>
          <ac:spMkLst>
            <pc:docMk/>
            <pc:sldMk cId="1759439002" sldId="547"/>
            <ac:spMk id="2" creationId="{77FB98D5-6E23-C286-0A2C-35CC7B84FDA3}"/>
          </ac:spMkLst>
        </pc:spChg>
      </pc:sldChg>
      <pc:sldChg chg="modSp add mod">
        <pc:chgData name="Imran Chowdhury  Dipto" userId="2b5ddac0-4c64-4558-af27-bf5213435365" providerId="ADAL" clId="{92107F7E-3BC0-45EC-8664-9E8BDAAE8E4A}" dt="2026-09-04T09:26:01.179" v="1239" actId="20577"/>
        <pc:sldMkLst>
          <pc:docMk/>
          <pc:sldMk cId="3157174001" sldId="548"/>
        </pc:sldMkLst>
        <pc:spChg chg="mod">
          <ac:chgData name="Imran Chowdhury  Dipto" userId="2b5ddac0-4c64-4558-af27-bf5213435365" providerId="ADAL" clId="{92107F7E-3BC0-45EC-8664-9E8BDAAE8E4A}" dt="2026-09-04T09:26:01.179" v="1239" actId="20577"/>
          <ac:spMkLst>
            <pc:docMk/>
            <pc:sldMk cId="3157174001" sldId="548"/>
            <ac:spMk id="2" creationId="{1D5B1BAA-6DB4-41C5-15F4-A610431628F6}"/>
          </ac:spMkLst>
        </pc:spChg>
        <pc:spChg chg="mod">
          <ac:chgData name="Imran Chowdhury  Dipto" userId="2b5ddac0-4c64-4558-af27-bf5213435365" providerId="ADAL" clId="{92107F7E-3BC0-45EC-8664-9E8BDAAE8E4A}" dt="2026-09-03T15:25:14.963" v="1205" actId="20577"/>
          <ac:spMkLst>
            <pc:docMk/>
            <pc:sldMk cId="3157174001" sldId="548"/>
            <ac:spMk id="3" creationId="{3157B108-453E-AB13-6A4E-0C4BCA671833}"/>
          </ac:spMkLst>
        </pc:sp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85B8F7D-9DF9-4D5C-A5C0-CD9BE235298F}" type="datetimeFigureOut">
              <a:rPr lang="en-US" smtClean="0"/>
              <a:t>9/14/2026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8FF4E84-27C0-48A9-96A3-5E49618712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897945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598A3F0-9785-DF37-CBCD-9200B3222E4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726D305-FC1A-93B5-C840-24444481233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8EAACAD-E27C-8EB6-F4B8-CC801741252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1D55433-4044-FCF2-BCDC-63BED2E0A59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4DFF4C2-74DA-1D46-B541-49BD0013B7E1}" type="slidenum">
              <a:rPr lang="en-DE" smtClean="0"/>
              <a:t>2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100332246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B35B006-507B-B95D-51B0-9B8312805D1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77117A5-8B05-6AAE-2962-6B3A5BE0928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EBCB75D-926E-D571-C1B9-32AAE14F933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9897589-C3EC-B7BF-0576-0F4BDF53AB4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4DFF4C2-74DA-1D46-B541-49BD0013B7E1}" type="slidenum">
              <a:rPr lang="en-DE" smtClean="0"/>
              <a:t>3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1208360239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59BD8F1-D532-4FA2-A47C-A3E36C55454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302390A-7376-3BBB-C078-A725340DAFE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35F8CEA-CC6D-B923-C6B5-5121293E1C7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3E6DC48-5BF8-7FD7-B9C2-8FD8459083A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4DFF4C2-74DA-1D46-B541-49BD0013B7E1}" type="slidenum">
              <a:rPr lang="en-DE" smtClean="0"/>
              <a:t>4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3554794559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D7456E9-D38C-41DF-FD6B-806210CE1A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BB00612-99E4-44B7-D019-E7827E6240A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C57A6D1-10C1-1658-4F58-DB5743FCC31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C95BA98-506E-4BEC-ABA3-FB31CE8FB54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4DFF4C2-74DA-1D46-B541-49BD0013B7E1}" type="slidenum">
              <a:rPr lang="en-DE" smtClean="0"/>
              <a:t>5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1657461537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CE7E5BF-12D4-7A72-FCE6-A7ECBBAA9DF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6C1B9DA-A459-9C52-EF07-6379645F395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B85ED8E-A0EB-DC57-7AFD-CC40DDEBDE1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98905B1-A6A9-00C5-5748-7CC4B9E9E26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4DFF4C2-74DA-1D46-B541-49BD0013B7E1}" type="slidenum">
              <a:rPr lang="en-DE" smtClean="0"/>
              <a:t>6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1333834304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BC2FB4F-3C17-6DCC-4FC2-DE3EC08E07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09738FB-03C6-BB68-1E95-26BFFCCE71A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2BCFAF2-6A05-B20A-2F5D-DCC95B382CF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3BE690D-A815-22C4-2C01-50F931C563E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4DFF4C2-74DA-1D46-B541-49BD0013B7E1}" type="slidenum">
              <a:rPr lang="en-DE" smtClean="0"/>
              <a:t>7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113742003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57EDED0-99BD-A0FE-89B3-8CF5CCA8FD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7CDFF69-7239-11F6-7E6A-8B9CCB87516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02D49EA-0D3D-54ED-4130-01134AD52EF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852CCEE-C1EB-B9BD-6EC4-4B8575AABD5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4DFF4C2-74DA-1D46-B541-49BD0013B7E1}" type="slidenum">
              <a:rPr lang="en-DE" smtClean="0"/>
              <a:t>8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1907207315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A907B6A-2741-542E-B2EF-23D52509421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38A125B-A192-B3D8-E1A6-9868CE6F9F7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1151204-8069-7651-C4DD-7076CEFE673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7F2207B-DB64-5634-7963-DA697CD9221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4DFF4C2-74DA-1D46-B541-49BD0013B7E1}" type="slidenum">
              <a:rPr lang="en-DE" smtClean="0"/>
              <a:t>9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3795435240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F8BC128-59A9-CC4D-BB1C-61BD7B83C06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0E80CAF-8FE9-9AD4-AD41-A67D9C81DB8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A9A892B-D725-8C80-45ED-6EAB26598A1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DF972E6-AD2C-7BC5-2181-38C0EE17379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4DFF4C2-74DA-1D46-B541-49BD0013B7E1}" type="slidenum">
              <a:rPr lang="en-DE" smtClean="0"/>
              <a:t>10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3772065320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C623E0F-9BAC-A86B-E1C2-190831A4968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7D65AEE-D6F3-220D-D7DC-2B190401D1E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3B33636-3DC5-4DB4-C089-DB3F2CD1F5E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6BCBBE7-EB3E-20A1-B6A3-D0C9EBDF5AC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4DFF4C2-74DA-1D46-B541-49BD0013B7E1}" type="slidenum">
              <a:rPr lang="en-DE" smtClean="0"/>
              <a:t>11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2454780578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B74C1BC-5415-26DC-D948-35ED2E8606A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32A40EC-9E79-A644-E592-8BF6B5E1CC3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B8D4BA9-113E-5B90-E1C2-D07AC052CF8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E1C1EFE-631D-F001-BAA6-991E76A739D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4DFF4C2-74DA-1D46-B541-49BD0013B7E1}" type="slidenum">
              <a:rPr lang="en-DE" smtClean="0"/>
              <a:t>12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686975349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7C0A539-8CF2-2904-5AEB-91F63EF8DB1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54B95BE-ADD1-54F7-F615-02D05F8160F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AFA90BD-B43C-057D-DC29-0BB8F8EFAFC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D9AC3E2-3D16-E45F-0D3D-70C90AA4377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4DFF4C2-74DA-1D46-B541-49BD0013B7E1}" type="slidenum">
              <a:rPr lang="en-DE" smtClean="0"/>
              <a:t>13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3034754365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BB07C59-87D7-87D3-0B23-495F5D70757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65F42FF-523B-3D54-26BC-85D1190D1BE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0E3CD91-9430-258B-C607-3EA1533FC65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C7976F9-62AB-B428-9182-EC3DF5310FF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4DFF4C2-74DA-1D46-B541-49BD0013B7E1}" type="slidenum">
              <a:rPr lang="en-DE" smtClean="0"/>
              <a:t>14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920213617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919A723-5008-8151-0CCB-18ACA6A615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1C97FA2-2545-5B32-E5CB-59F5B8412C7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1DFEC12-593A-A1BA-0CF3-A148438DD8A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365D229-C6C9-AB37-479A-1779A9E897F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4DFF4C2-74DA-1D46-B541-49BD0013B7E1}" type="slidenum">
              <a:rPr lang="en-DE" smtClean="0"/>
              <a:t>15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2049349185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78A0C91-209A-A28D-403F-5C0334E3AE6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1433EB0-E0CC-BA09-A615-A896CB6490F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D02A39D-79A5-04CA-A3A7-7643D7035D6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8B80394-0CDA-071E-9CE2-6C82D35845D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4DFF4C2-74DA-1D46-B541-49BD0013B7E1}" type="slidenum">
              <a:rPr lang="en-DE" smtClean="0"/>
              <a:t>16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3016857559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32FFEFC-7A42-E56F-F069-C948431F068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3FE44D6-3756-FB46-514E-A4E4496942A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217C001-483A-329E-1760-AB5B703EE25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8614E09-B076-D4AD-AE39-F8F30EFF8B7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4DFF4C2-74DA-1D46-B541-49BD0013B7E1}" type="slidenum">
              <a:rPr lang="en-DE" smtClean="0"/>
              <a:t>17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2945984557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06FEC5F-BFDB-6639-A982-0176C84071D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D8D446C-FAED-8A91-8E29-C4F046C9228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CB49C38-7F43-215F-7346-4A775563D69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3683CD9-6BF0-1576-EFAA-1804FDA7C50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4DFF4C2-74DA-1D46-B541-49BD0013B7E1}" type="slidenum">
              <a:rPr lang="en-DE" smtClean="0"/>
              <a:t>18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82416331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A95D501-74A8-F70F-B442-9349167228E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68D2F5FA-E82C-4DE2-C185-8A83972D208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F6E0D28-51F3-F9C1-6FCA-9BF1784743A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73CF59-A18C-4D57-9490-8821DC8785C9}" type="datetimeFigureOut">
              <a:rPr lang="en-US" smtClean="0"/>
              <a:t>9/14/2026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8F60502-BE31-E294-B2D1-293D0A2462F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CA5B62A-FEB6-5BBE-AFE0-279109944C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ECA2EFD-B437-418F-AEB7-DA8492B46E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27360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9EFB3B9-F9EB-E1DB-361E-E97B9852FD2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9446093-BD60-28F3-5905-5421D24252B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A2B6959-3DD3-A4E5-C78A-804CC09EB05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73CF59-A18C-4D57-9490-8821DC8785C9}" type="datetimeFigureOut">
              <a:rPr lang="en-US" smtClean="0"/>
              <a:t>9/14/2026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D203884-52A3-EDAA-7BB4-7190912CB75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FF6C715-4126-EB93-6553-589FF58DC6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ECA2EFD-B437-418F-AEB7-DA8492B46E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329485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E945BDA-C076-F662-543A-BE8EE44DAE2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9AF1D58-5DC4-3D12-06DB-646DD687F9F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8AB023A-E971-304D-DCB9-A5C7EE0FE16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73CF59-A18C-4D57-9490-8821DC8785C9}" type="datetimeFigureOut">
              <a:rPr lang="en-US" smtClean="0"/>
              <a:t>9/14/2026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116618D-67B1-52C8-DE5A-CF541C704D2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40E3ECE-D494-6755-84C6-072070D2DDD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ECA2EFD-B437-418F-AEB7-DA8492B46E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8959690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14248C3-02C4-BAEA-DD91-704C87F0CD0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154EEE3-B5B8-552D-742C-D430F3D60D6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B2F7BB9-8A31-D40A-B296-9DC45FE3DEA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C9AAC07-BA6C-17CA-FD47-EC516184DF7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73CF59-A18C-4D57-9490-8821DC8785C9}" type="datetimeFigureOut">
              <a:rPr lang="en-US" smtClean="0"/>
              <a:t>9/14/2026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E4C8675-ECAE-EA06-EFFD-4A120861E2E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E2E54FD-EC63-0661-3AA3-12CF17E2BA6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ECA2EFD-B437-418F-AEB7-DA8492B46E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9026664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18A7F9B-3013-DE0F-A6B4-0BF3AA63910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21C76CA-BF81-E2E3-AFC5-5613D105F0F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7A2281C-1C9B-021F-F30A-4D53BDFC924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3D447FD1-5A32-3064-E6AF-D96E762E666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A1D6E73A-0258-99C3-9408-469FD7F8263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3F3A347B-10B1-F3CC-5C31-AB04400D1F6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73CF59-A18C-4D57-9490-8821DC8785C9}" type="datetimeFigureOut">
              <a:rPr lang="en-US" smtClean="0"/>
              <a:t>9/14/2026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EF525213-2698-D2AF-BE9B-C879DAD78A2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9A601D88-AC8C-F26D-28F7-0A361BE3959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ECA2EFD-B437-418F-AEB7-DA8492B46E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3085132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38FD26-0E77-9724-7D9C-87E56E5F61C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800B43B4-AF07-846C-D7D9-5E4C83A920E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73CF59-A18C-4D57-9490-8821DC8785C9}" type="datetimeFigureOut">
              <a:rPr lang="en-US" smtClean="0"/>
              <a:t>9/14/2026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03B0D1F-D398-9A2E-F325-1B2358761F8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7BA1293-91D5-CBD1-C2D6-92A14AD50C4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ECA2EFD-B437-418F-AEB7-DA8492B46E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476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FFAA3C17-024B-AAC9-4C56-D3E82662632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73CF59-A18C-4D57-9490-8821DC8785C9}" type="datetimeFigureOut">
              <a:rPr lang="en-US" smtClean="0"/>
              <a:t>9/14/2026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23B54B45-4C06-C7E3-B6A2-EE0973A257F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6362B0C-CC30-4C2D-D82A-FD9119FFB13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ECA2EFD-B437-418F-AEB7-DA8492B46E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7065168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F4EE896-A837-91C8-AD3A-AC157D9005B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67F5E0-6ED2-9E74-DC8A-2B95D651747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FFD5079-CC3A-57E2-40E2-072DBAA2824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B003469-66A7-ED33-D654-C8A32C49609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73CF59-A18C-4D57-9490-8821DC8785C9}" type="datetimeFigureOut">
              <a:rPr lang="en-US" smtClean="0"/>
              <a:t>9/14/2026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0E0C6BA-79EF-701B-FA39-4421D0FAA0C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AFD6EAD-EC7B-C8DE-96B6-7221525F2A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ECA2EFD-B437-418F-AEB7-DA8492B46E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6665573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06FE89A-FFBF-91A8-D44E-6E5DA77187F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D1763FD2-FE9D-372D-3F86-E77FCC503F2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8CD91A2-025E-18D2-ADE4-DF93ED04978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DC66D5F-5F7D-B9B6-AD88-8812E85C125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73CF59-A18C-4D57-9490-8821DC8785C9}" type="datetimeFigureOut">
              <a:rPr lang="en-US" smtClean="0"/>
              <a:t>9/14/2026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A46EA98-C97A-DAF9-3178-CB44F287E60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9015B41-A333-1D6C-6DFD-642444ECC91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ECA2EFD-B437-418F-AEB7-DA8492B46E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825335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E1EE43F-3DDA-435B-47E6-1C8C1D8C668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C6A148D8-2275-D7C0-2F04-3C54359F291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10886E0-A2C3-AAF0-BC1D-12853DB5C1E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73CF59-A18C-4D57-9490-8821DC8785C9}" type="datetimeFigureOut">
              <a:rPr lang="en-US" smtClean="0"/>
              <a:t>9/14/2026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C8E8910-71EC-BD4D-5E82-DDBB76BBD38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F66991F-6F4F-6437-2D67-4896A964123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ECA2EFD-B437-418F-AEB7-DA8492B46E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4056477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7C809A1C-6A28-EF8F-3546-79C1DD10F51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7DC86128-834F-1236-E8E2-246B42A0245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29438DD-493F-E414-0B2B-5221C0313B2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73CF59-A18C-4D57-9490-8821DC8785C9}" type="datetimeFigureOut">
              <a:rPr lang="en-US" smtClean="0"/>
              <a:t>9/14/2026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B437952-F1F9-978C-B3E5-EA607CAEB88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79EF464-DFA5-AC0F-BF48-12065770A0E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ECA2EFD-B437-418F-AEB7-DA8492B46E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83705614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1_Title Slide">
    <p:bg>
      <p:bgPr>
        <a:blipFill dpi="0" rotWithShape="1">
          <a:blip r:embed="rId2" cstate="print">
            <a:alphaModFix amt="99000"/>
            <a:lum/>
          </a:blip>
          <a:srcRect/>
          <a:stretch>
            <a:fillRect t="-15000" b="-15000"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 hasCustomPrompt="1"/>
          </p:nvPr>
        </p:nvSpPr>
        <p:spPr>
          <a:xfrm>
            <a:off x="1239141" y="1505970"/>
            <a:ext cx="9793483" cy="2010702"/>
          </a:xfrm>
          <a:prstGeom prst="rect">
            <a:avLst/>
          </a:prstGeom>
          <a:noFill/>
          <a:ln>
            <a:noFill/>
          </a:ln>
        </p:spPr>
        <p:txBody>
          <a:bodyPr anchor="ctr">
            <a:normAutofit/>
          </a:bodyPr>
          <a:lstStyle>
            <a:lvl1pPr marL="98425" indent="0" algn="ctr">
              <a:lnSpc>
                <a:spcPct val="100000"/>
              </a:lnSpc>
              <a:tabLst/>
              <a:defRPr sz="4800" b="1" i="0" cap="none" baseline="0">
                <a:solidFill>
                  <a:schemeClr val="bg1"/>
                </a:solidFill>
                <a:latin typeface="Montserrat" charset="0"/>
                <a:ea typeface="Montserrat" charset="0"/>
                <a:cs typeface="Montserrat" charset="0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 hasCustomPrompt="1"/>
          </p:nvPr>
        </p:nvSpPr>
        <p:spPr>
          <a:xfrm>
            <a:off x="1239141" y="3912240"/>
            <a:ext cx="9793483" cy="528528"/>
          </a:xfrm>
          <a:noFill/>
        </p:spPr>
        <p:txBody>
          <a:bodyPr>
            <a:normAutofit/>
          </a:bodyPr>
          <a:lstStyle>
            <a:lvl1pPr marL="134938" indent="0" algn="ctr">
              <a:buNone/>
              <a:tabLst/>
              <a:defRPr sz="2800" cap="none" baseline="0">
                <a:solidFill>
                  <a:schemeClr val="bg1"/>
                </a:solidFill>
                <a:latin typeface="Montserrat" charset="0"/>
                <a:ea typeface="Montserrat" charset="0"/>
                <a:cs typeface="Montserrat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18" name="Text Placeholder 17"/>
          <p:cNvSpPr>
            <a:spLocks noGrp="1"/>
          </p:cNvSpPr>
          <p:nvPr>
            <p:ph type="body" sz="quarter" idx="14" hasCustomPrompt="1"/>
          </p:nvPr>
        </p:nvSpPr>
        <p:spPr>
          <a:xfrm>
            <a:off x="1239141" y="4760133"/>
            <a:ext cx="9793483" cy="356696"/>
          </a:xfrm>
          <a:noFill/>
        </p:spPr>
        <p:txBody>
          <a:bodyPr>
            <a:noAutofit/>
          </a:bodyPr>
          <a:lstStyle>
            <a:lvl1pPr marL="134938" indent="0" algn="ctr">
              <a:buNone/>
              <a:tabLst/>
              <a:defRPr sz="1600" b="0" i="0" cap="all" baseline="0">
                <a:solidFill>
                  <a:schemeClr val="bg1"/>
                </a:solidFill>
                <a:latin typeface="Open Sans" charset="0"/>
                <a:ea typeface="Open Sans" charset="0"/>
                <a:cs typeface="Open Sans" charset="0"/>
              </a:defRPr>
            </a:lvl1pPr>
          </a:lstStyle>
          <a:p>
            <a:pPr lvl="0"/>
            <a:r>
              <a:rPr lang="it-IT"/>
              <a:t>PLANET team – DET – Politecnico di Torino – ITALY</a:t>
            </a:r>
          </a:p>
        </p:txBody>
      </p:sp>
      <p:sp>
        <p:nvSpPr>
          <p:cNvPr id="16" name="Text Placeholder 7">
            <a:extLst>
              <a:ext uri="{FF2B5EF4-FFF2-40B4-BE49-F238E27FC236}">
                <a16:creationId xmlns:a16="http://schemas.microsoft.com/office/drawing/2014/main" id="{8D6E1031-129D-44EF-8BAE-DBE2E69619A2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660017" y="375"/>
            <a:ext cx="4107987" cy="925200"/>
          </a:xfrm>
          <a:noFill/>
        </p:spPr>
        <p:txBody>
          <a:bodyPr wrap="square" lIns="180000" rIns="0" rtlCol="0" anchor="ctr" anchorCtr="0">
            <a:noAutofit/>
          </a:bodyPr>
          <a:lstStyle>
            <a:lvl1pPr marL="0" indent="0" algn="ctr" defTabSz="914400" rtl="0" eaLnBrk="1" latinLnBrk="0" hangingPunct="1">
              <a:lnSpc>
                <a:spcPct val="100000"/>
              </a:lnSpc>
              <a:spcBef>
                <a:spcPts val="0"/>
              </a:spcBef>
              <a:buNone/>
              <a:defRPr lang="en-US" sz="1400" kern="1200" cap="all" dirty="0" smtClean="0">
                <a:solidFill>
                  <a:schemeClr val="bg1"/>
                </a:solidFill>
                <a:latin typeface="Montserrat-Regular" charset="0"/>
                <a:ea typeface="+mn-ea"/>
                <a:cs typeface="+mn-cs"/>
              </a:defRPr>
            </a:lvl1pPr>
          </a:lstStyle>
          <a:p>
            <a:pPr marL="0" lvl="0"/>
            <a:r>
              <a:rPr lang="en-US"/>
              <a:t>Click to add any additional information required</a:t>
            </a:r>
          </a:p>
        </p:txBody>
      </p:sp>
      <p:pic>
        <p:nvPicPr>
          <p:cNvPr id="8" name="Picture 2" descr="C:\Users\bened\Desktop\Planet\Logo optcom.PNG"/>
          <p:cNvPicPr>
            <a:picLocks noChangeAspect="1" noChangeArrowheads="1"/>
          </p:cNvPicPr>
          <p:nvPr userDrawn="1"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19804" y="6501828"/>
            <a:ext cx="1398059" cy="239540"/>
          </a:xfrm>
          <a:prstGeom prst="rect">
            <a:avLst/>
          </a:prstGeom>
          <a:noFill/>
        </p:spPr>
      </p:pic>
      <p:sp>
        <p:nvSpPr>
          <p:cNvPr id="12" name="TextBox 17">
            <a:extLst>
              <a:ext uri="{FF2B5EF4-FFF2-40B4-BE49-F238E27FC236}">
                <a16:creationId xmlns:a16="http://schemas.microsoft.com/office/drawing/2014/main" id="{AFFE9BD7-B18B-459E-BFFC-9BAC5C46464A}"/>
              </a:ext>
            </a:extLst>
          </p:cNvPr>
          <p:cNvSpPr txBox="1"/>
          <p:nvPr userDrawn="1"/>
        </p:nvSpPr>
        <p:spPr>
          <a:xfrm>
            <a:off x="4688842" y="6474822"/>
            <a:ext cx="281432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b="0">
                <a:solidFill>
                  <a:schemeClr val="bg1"/>
                </a:solidFill>
                <a:latin typeface="Montserrat Alternates Medium" pitchFamily="50" charset="0"/>
                <a:ea typeface="Open Sans" panose="020B0606030504020204" pitchFamily="34" charset="0"/>
                <a:cs typeface="Open Sans" panose="020B0606030504020204" pitchFamily="34" charset="0"/>
              </a:rPr>
              <a:t>planet.polito.it</a:t>
            </a:r>
          </a:p>
        </p:txBody>
      </p:sp>
      <p:pic>
        <p:nvPicPr>
          <p:cNvPr id="14" name="Picture 3" descr="C:\Users\bened\Desktop\Planet\Logo Planet\Logo+scritta laterale_per sfondo scuro.png"/>
          <p:cNvPicPr>
            <a:picLocks noChangeAspect="1" noChangeArrowheads="1"/>
          </p:cNvPicPr>
          <p:nvPr userDrawn="1"/>
        </p:nvPicPr>
        <p:blipFill>
          <a:blip r:embed="rId4" cstate="print"/>
          <a:srcRect/>
          <a:stretch>
            <a:fillRect/>
          </a:stretch>
        </p:blipFill>
        <p:spPr bwMode="auto">
          <a:xfrm>
            <a:off x="9984938" y="88572"/>
            <a:ext cx="2016486" cy="532117"/>
          </a:xfrm>
          <a:prstGeom prst="rect">
            <a:avLst/>
          </a:prstGeom>
          <a:noFill/>
        </p:spPr>
      </p:pic>
      <p:pic>
        <p:nvPicPr>
          <p:cNvPr id="1030" name="Picture 6">
            <a:extLst>
              <a:ext uri="{FF2B5EF4-FFF2-40B4-BE49-F238E27FC236}">
                <a16:creationId xmlns:a16="http://schemas.microsoft.com/office/drawing/2014/main" id="{764E18A0-CD59-819E-3BFA-A95AF7BC3F1E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5725" y="16375"/>
            <a:ext cx="1866024" cy="82173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826284508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5_Text and pictur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096000" y="1624694"/>
            <a:ext cx="5903361" cy="3460491"/>
          </a:xfrm>
        </p:spPr>
        <p:txBody>
          <a:bodyPr/>
          <a:lstStyle>
            <a:lvl1pPr>
              <a:buNone/>
              <a:defRPr>
                <a:solidFill>
                  <a:srgbClr val="0F4D7D"/>
                </a:solidFill>
                <a:latin typeface="Open Sans" charset="0"/>
                <a:ea typeface="Open Sans" charset="0"/>
                <a:cs typeface="Open Sans" charset="0"/>
              </a:defRPr>
            </a:lvl1pPr>
            <a:lvl2pPr>
              <a:defRPr>
                <a:solidFill>
                  <a:srgbClr val="0F4D7D"/>
                </a:solidFill>
                <a:latin typeface="Open Sans" charset="0"/>
                <a:ea typeface="Open Sans" charset="0"/>
                <a:cs typeface="Open Sans" charset="0"/>
              </a:defRPr>
            </a:lvl2pPr>
            <a:lvl3pPr>
              <a:defRPr>
                <a:solidFill>
                  <a:srgbClr val="0F4D7D"/>
                </a:solidFill>
                <a:latin typeface="Open Sans" charset="0"/>
                <a:ea typeface="Open Sans" charset="0"/>
                <a:cs typeface="Open Sans" charset="0"/>
              </a:defRPr>
            </a:lvl3pPr>
            <a:lvl4pPr>
              <a:defRPr>
                <a:solidFill>
                  <a:srgbClr val="0F4D7D"/>
                </a:solidFill>
                <a:latin typeface="Open Sans" charset="0"/>
                <a:ea typeface="Open Sans" charset="0"/>
                <a:cs typeface="Open Sans" charset="0"/>
              </a:defRPr>
            </a:lvl4pPr>
            <a:lvl5pPr>
              <a:defRPr>
                <a:solidFill>
                  <a:srgbClr val="0F4D7D"/>
                </a:solidFill>
                <a:latin typeface="Open Sans" charset="0"/>
                <a:ea typeface="Open Sans" charset="0"/>
                <a:cs typeface="Open Sans" charset="0"/>
              </a:defRPr>
            </a:lvl5pPr>
          </a:lstStyle>
          <a:p>
            <a:pPr lvl="0"/>
            <a:endParaRPr lang="en-US"/>
          </a:p>
        </p:txBody>
      </p:sp>
      <p:sp>
        <p:nvSpPr>
          <p:cNvPr id="16" name="Title 1">
            <a:extLst>
              <a:ext uri="{FF2B5EF4-FFF2-40B4-BE49-F238E27FC236}">
                <a16:creationId xmlns:a16="http://schemas.microsoft.com/office/drawing/2014/main" id="{A0E80BD0-803D-4617-8B07-127AF6E6F23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0"/>
            <a:ext cx="11887200" cy="838800"/>
          </a:xfrm>
          <a:prstGeom prst="rect">
            <a:avLst/>
          </a:prstGeom>
          <a:noFill/>
        </p:spPr>
        <p:txBody>
          <a:bodyPr vert="horz" lIns="91440" tIns="45720" rIns="91440" bIns="45720" rtlCol="0" anchor="ctr">
            <a:normAutofit/>
          </a:bodyPr>
          <a:lstStyle>
            <a:lvl1pPr>
              <a:defRPr lang="en-US" sz="3200" cap="all" dirty="0">
                <a:solidFill>
                  <a:srgbClr val="1A5D8C"/>
                </a:solidFill>
                <a:latin typeface="Montserrat SemiBold" panose="00000700000000000000" pitchFamily="2" charset="0"/>
                <a:ea typeface="+mn-ea"/>
                <a:cs typeface="+mn-cs"/>
              </a:defRPr>
            </a:lvl1pPr>
          </a:lstStyle>
          <a:p>
            <a:pPr marL="0" lvl="0" indent="0">
              <a:lnSpc>
                <a:spcPct val="100000"/>
              </a:lnSpc>
              <a:buFont typeface="Arial" panose="020B0604020202020204" pitchFamily="34" charset="0"/>
              <a:tabLst/>
            </a:pPr>
            <a:r>
              <a:rPr lang="en-US"/>
              <a:t>Click to edit Master title style</a:t>
            </a:r>
          </a:p>
        </p:txBody>
      </p:sp>
      <p:sp>
        <p:nvSpPr>
          <p:cNvPr id="8" name="Slide Number Placeholder 5">
            <a:extLst>
              <a:ext uri="{FF2B5EF4-FFF2-40B4-BE49-F238E27FC236}">
                <a16:creationId xmlns:a16="http://schemas.microsoft.com/office/drawing/2014/main" id="{59734129-92FD-43AB-A4B2-B0A141008E0D}"/>
              </a:ext>
            </a:extLst>
          </p:cNvPr>
          <p:cNvSpPr txBox="1">
            <a:spLocks/>
          </p:cNvSpPr>
          <p:nvPr userDrawn="1"/>
        </p:nvSpPr>
        <p:spPr>
          <a:xfrm>
            <a:off x="81713" y="6422634"/>
            <a:ext cx="514351" cy="386247"/>
          </a:xfrm>
          <a:prstGeom prst="rect">
            <a:avLst/>
          </a:prstGeom>
        </p:spPr>
        <p:txBody>
          <a:bodyPr/>
          <a:lstStyle>
            <a:defPPr>
              <a:defRPr lang="it-IT"/>
            </a:defPPr>
            <a:lvl1pPr marL="0" algn="ctr" defTabSz="914400" rtl="0" eaLnBrk="1" latinLnBrk="0" hangingPunct="1">
              <a:defRPr sz="1600" kern="1200">
                <a:ln>
                  <a:noFill/>
                </a:ln>
                <a:solidFill>
                  <a:srgbClr val="0F4D7D"/>
                </a:solidFill>
                <a:latin typeface="Montserrat" charset="0"/>
                <a:ea typeface="Montserrat" charset="0"/>
                <a:cs typeface="Montserrat" charset="0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B2577DC0-E3FF-7042-8EFC-3A96A6432A2A}" type="slidenum">
              <a:rPr lang="en-US" sz="1600" smtClean="0"/>
              <a:pPr/>
              <a:t>‹#›</a:t>
            </a:fld>
            <a:endParaRPr lang="en-US" sz="1600"/>
          </a:p>
        </p:txBody>
      </p:sp>
      <p:sp>
        <p:nvSpPr>
          <p:cNvPr id="9" name="Content Placeholder 5">
            <a:extLst>
              <a:ext uri="{FF2B5EF4-FFF2-40B4-BE49-F238E27FC236}">
                <a16:creationId xmlns:a16="http://schemas.microsoft.com/office/drawing/2014/main" id="{361C0A39-1049-4698-9BF7-1F322AE2267A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304011" y="1621480"/>
            <a:ext cx="5791989" cy="3460491"/>
          </a:xfrm>
        </p:spPr>
        <p:txBody>
          <a:bodyPr/>
          <a:lstStyle>
            <a:lvl1pPr>
              <a:buNone/>
              <a:defRPr>
                <a:solidFill>
                  <a:srgbClr val="0F4D7D"/>
                </a:solidFill>
                <a:latin typeface="Open Sans" charset="0"/>
                <a:ea typeface="Open Sans" charset="0"/>
                <a:cs typeface="Open Sans" charset="0"/>
              </a:defRPr>
            </a:lvl1pPr>
            <a:lvl2pPr>
              <a:defRPr>
                <a:solidFill>
                  <a:srgbClr val="0F4D7D"/>
                </a:solidFill>
                <a:latin typeface="Open Sans" charset="0"/>
                <a:ea typeface="Open Sans" charset="0"/>
                <a:cs typeface="Open Sans" charset="0"/>
              </a:defRPr>
            </a:lvl2pPr>
            <a:lvl3pPr>
              <a:defRPr>
                <a:solidFill>
                  <a:srgbClr val="0F4D7D"/>
                </a:solidFill>
                <a:latin typeface="Open Sans" charset="0"/>
                <a:ea typeface="Open Sans" charset="0"/>
                <a:cs typeface="Open Sans" charset="0"/>
              </a:defRPr>
            </a:lvl3pPr>
            <a:lvl4pPr>
              <a:defRPr>
                <a:solidFill>
                  <a:srgbClr val="0F4D7D"/>
                </a:solidFill>
                <a:latin typeface="Open Sans" charset="0"/>
                <a:ea typeface="Open Sans" charset="0"/>
                <a:cs typeface="Open Sans" charset="0"/>
              </a:defRPr>
            </a:lvl4pPr>
            <a:lvl5pPr>
              <a:defRPr>
                <a:solidFill>
                  <a:srgbClr val="0F4D7D"/>
                </a:solidFill>
                <a:latin typeface="Open Sans" charset="0"/>
                <a:ea typeface="Open Sans" charset="0"/>
                <a:cs typeface="Open Sans" charset="0"/>
              </a:defRPr>
            </a:lvl5pPr>
          </a:lstStyle>
          <a:p>
            <a:pPr lvl="0"/>
            <a:endParaRPr lang="en-US"/>
          </a:p>
        </p:txBody>
      </p:sp>
      <p:pic>
        <p:nvPicPr>
          <p:cNvPr id="7" name="Picture 2" descr="C:\Users\bened\Desktop\Planet\Logo Planet\Logo+scritta laterale_per sfondo scuro_senza acronimo2.png">
            <a:extLst>
              <a:ext uri="{FF2B5EF4-FFF2-40B4-BE49-F238E27FC236}">
                <a16:creationId xmlns:a16="http://schemas.microsoft.com/office/drawing/2014/main" id="{EB4C83FB-2DD8-4437-B867-37016771CDE8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2" cstate="print"/>
          <a:srcRect l="5461" t="67507" r="21731" b="9125"/>
          <a:stretch>
            <a:fillRect/>
          </a:stretch>
        </p:blipFill>
        <p:spPr bwMode="auto">
          <a:xfrm>
            <a:off x="9840903" y="116633"/>
            <a:ext cx="2240541" cy="504055"/>
          </a:xfrm>
          <a:prstGeom prst="rect">
            <a:avLst/>
          </a:prstGeom>
          <a:noFill/>
        </p:spPr>
      </p:pic>
    </p:spTree>
    <p:extLst>
      <p:ext uri="{BB962C8B-B14F-4D97-AF65-F5344CB8AC3E}">
        <p14:creationId xmlns:p14="http://schemas.microsoft.com/office/powerpoint/2010/main" val="311749979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A8A879C0-F29C-4C0D-CA88-B914B10EFA1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094C1DA-AD56-5CE5-3322-559DD59CD92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F02800F-D4C3-C4E5-6E67-A9579D48944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473CF59-A18C-4D57-9490-8821DC8785C9}" type="datetimeFigureOut">
              <a:rPr lang="en-US" smtClean="0"/>
              <a:t>9/14/2026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5B6A658-2EBC-48D1-1053-5D7B3FB38C8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9D39E8A-DA85-E495-0AF3-A21621ED332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ECA2EFD-B437-418F-AEB7-DA8492B46E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7290937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jpeg"/><Relationship Id="rId2" Type="http://schemas.openxmlformats.org/officeDocument/2006/relationships/image" Target="../media/image6.jpeg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8.pn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3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3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3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3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3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3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3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3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3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3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3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3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3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3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3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3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2E073DC-E912-FA83-545D-848596B1A0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A76032-F0AB-BD4F-C920-4AFD43D242E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199897" y="1541867"/>
            <a:ext cx="10113633" cy="1240755"/>
          </a:xfrm>
        </p:spPr>
        <p:txBody>
          <a:bodyPr>
            <a:noAutofit/>
          </a:bodyPr>
          <a:lstStyle/>
          <a:p>
            <a:r>
              <a:rPr lang="en-US" sz="2400" b="0" dirty="0">
                <a:latin typeface="Montserrat" panose="02000505000000020004" pitchFamily="2" charset="0"/>
              </a:rPr>
              <a:t>Multi-Agent Digital Twin for SLA Management </a:t>
            </a:r>
            <a:r>
              <a:rPr lang="en-US" sz="2400" b="0" dirty="0" err="1">
                <a:latin typeface="Montserrat" panose="02000505000000020004" pitchFamily="2" charset="0"/>
              </a:rPr>
              <a:t>inCoherent</a:t>
            </a:r>
            <a:r>
              <a:rPr lang="en-US" sz="2400" b="0" dirty="0">
                <a:latin typeface="Montserrat" panose="02000505000000020004" pitchFamily="2" charset="0"/>
              </a:rPr>
              <a:t> P2MP Metro-Access Networks</a:t>
            </a:r>
            <a:br>
              <a:rPr lang="en-US" sz="2400" b="0" dirty="0">
                <a:latin typeface="Montserrat" panose="02000505000000020004" pitchFamily="2" charset="0"/>
              </a:rPr>
            </a:br>
            <a:br>
              <a:rPr lang="en-US" sz="3200" b="0" dirty="0">
                <a:latin typeface="Montserrat" panose="02000505000000020004" pitchFamily="2" charset="0"/>
              </a:rPr>
            </a:br>
            <a:endParaRPr lang="en-US" sz="6000" b="0" dirty="0">
              <a:latin typeface="Montserrat" panose="02000505000000020004" pitchFamily="2" charset="0"/>
            </a:endParaRP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22AB8067-986A-D44D-7B4F-E702D47DD8CE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3666949" y="-75912"/>
            <a:ext cx="4107987" cy="925200"/>
          </a:xfrm>
        </p:spPr>
        <p:txBody>
          <a:bodyPr/>
          <a:lstStyle/>
          <a:p>
            <a:r>
              <a:rPr lang="en-US" dirty="0"/>
              <a:t>7</a:t>
            </a:r>
            <a:r>
              <a:rPr lang="en-US" baseline="30000" dirty="0"/>
              <a:t>th</a:t>
            </a:r>
            <a:r>
              <a:rPr lang="en-US" dirty="0"/>
              <a:t> September 2026</a:t>
            </a:r>
          </a:p>
        </p:txBody>
      </p:sp>
      <p:pic>
        <p:nvPicPr>
          <p:cNvPr id="6" name="Picture 2" descr="Nokia Logo and symbol, meaning, history, PNG, brand">
            <a:extLst>
              <a:ext uri="{FF2B5EF4-FFF2-40B4-BE49-F238E27FC236}">
                <a16:creationId xmlns:a16="http://schemas.microsoft.com/office/drawing/2014/main" id="{D9E919BF-FCE2-3BF3-6E90-FFC68C52E22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788537" y="6069444"/>
            <a:ext cx="1402670" cy="78855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6" name="Picture 2" descr="NESTOR Doctoral Network ...">
            <a:extLst>
              <a:ext uri="{FF2B5EF4-FFF2-40B4-BE49-F238E27FC236}">
                <a16:creationId xmlns:a16="http://schemas.microsoft.com/office/drawing/2014/main" id="{5C5CF472-DB19-1630-7E9B-C521DFEE02FB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2868" b="26161"/>
          <a:stretch>
            <a:fillRect/>
          </a:stretch>
        </p:blipFill>
        <p:spPr bwMode="auto">
          <a:xfrm>
            <a:off x="8448043" y="6069444"/>
            <a:ext cx="2143125" cy="78855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 descr="Inforegio - Download centre for visual ...">
            <a:extLst>
              <a:ext uri="{FF2B5EF4-FFF2-40B4-BE49-F238E27FC236}">
                <a16:creationId xmlns:a16="http://schemas.microsoft.com/office/drawing/2014/main" id="{67DF53F6-27B9-F227-B2F1-D639C99DF33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038249" y="6144016"/>
            <a:ext cx="2615965" cy="71398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84888842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DBCC559-0385-A95B-E000-43A05EB1D5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E97CDF2-7813-86B8-4FCF-D9C116F2F3D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5555" y="0"/>
            <a:ext cx="11885653" cy="838800"/>
          </a:xfrm>
        </p:spPr>
        <p:txBody>
          <a:bodyPr anchor="ctr">
            <a:normAutofit/>
          </a:bodyPr>
          <a:lstStyle/>
          <a:p>
            <a:r>
              <a:rPr lang="en-IN" dirty="0"/>
              <a:t>Points to improve 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76AB61B-A48A-B8F8-ABEC-8A33E57C2A68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387580" y="752388"/>
            <a:ext cx="11426771" cy="4813793"/>
          </a:xfrm>
        </p:spPr>
        <p:txBody>
          <a:bodyPr vert="horz" lIns="91440" tIns="45720" rIns="91440" bIns="45720" rtlCol="0" anchor="t">
            <a:normAutofit/>
          </a:bodyPr>
          <a:lstStyle/>
          <a:p>
            <a:pPr marL="457200" lvl="1" indent="0">
              <a:buNone/>
            </a:pPr>
            <a:endParaRPr lang="en-US" sz="1100" dirty="0"/>
          </a:p>
          <a:p>
            <a:pPr marL="800100" lvl="1" indent="-342900"/>
            <a:endParaRPr lang="en-US" sz="1100" i="1" dirty="0"/>
          </a:p>
          <a:p>
            <a:pPr>
              <a:buFont typeface="Arial" panose="020B0604020202020204" pitchFamily="34" charset="0"/>
              <a:buChar char="•"/>
            </a:pPr>
            <a:r>
              <a:rPr lang="en-US" sz="2000" dirty="0"/>
              <a:t>Maintain shared states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2000" dirty="0"/>
              <a:t>Collaborate Dynamically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2000" dirty="0"/>
              <a:t>Validation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2000" dirty="0"/>
              <a:t>Explain an error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2000" dirty="0"/>
              <a:t>Select different workflows for the query types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2000" dirty="0"/>
              <a:t>The system did not follow the specific guidelines written on the spreadsheet</a:t>
            </a:r>
          </a:p>
          <a:p>
            <a:endParaRPr lang="en-US" sz="1600" dirty="0"/>
          </a:p>
          <a:p>
            <a:endParaRPr lang="en-US" sz="1600" dirty="0"/>
          </a:p>
          <a:p>
            <a:endParaRPr lang="en-IN" sz="1100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1BBFC76-E827-5513-E425-5D37085EBBFB}"/>
              </a:ext>
            </a:extLst>
          </p:cNvPr>
          <p:cNvSpPr txBox="1"/>
          <p:nvPr/>
        </p:nvSpPr>
        <p:spPr>
          <a:xfrm>
            <a:off x="8976320" y="2852936"/>
            <a:ext cx="47320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buFont typeface="Wingdings" panose="05000000000000000000" pitchFamily="2" charset="2"/>
              <a:buChar char="§"/>
            </a:pPr>
            <a:endParaRPr lang="en-US" err="1">
              <a:solidFill>
                <a:schemeClr val="accent2"/>
              </a:solidFill>
              <a:latin typeface="Montserrat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34079893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6E7CE87-685A-DCE9-F3C9-BFF210D7F63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C523C20-FC22-C3C5-5AAE-048037BBFAC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5555" y="0"/>
            <a:ext cx="11885653" cy="838800"/>
          </a:xfrm>
        </p:spPr>
        <p:txBody>
          <a:bodyPr anchor="ctr">
            <a:normAutofit/>
          </a:bodyPr>
          <a:lstStyle/>
          <a:p>
            <a:r>
              <a:rPr lang="en-IN"/>
              <a:t>Agentic setup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7E7B14F1-B0DD-5165-D025-0D04DD143E09}"/>
              </a:ext>
            </a:extLst>
          </p:cNvPr>
          <p:cNvSpPr txBox="1"/>
          <p:nvPr/>
        </p:nvSpPr>
        <p:spPr>
          <a:xfrm>
            <a:off x="8976320" y="2852936"/>
            <a:ext cx="47320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buFont typeface="Wingdings" panose="05000000000000000000" pitchFamily="2" charset="2"/>
              <a:buChar char="§"/>
            </a:pPr>
            <a:endParaRPr lang="en-US" err="1">
              <a:solidFill>
                <a:schemeClr val="accent2"/>
              </a:solidFill>
              <a:latin typeface="Montserrat" pitchFamily="2" charset="0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C70F3CA4-84E7-9E2C-957C-217A5D48188C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b="20417"/>
          <a:stretch>
            <a:fillRect/>
          </a:stretch>
        </p:blipFill>
        <p:spPr>
          <a:xfrm>
            <a:off x="305554" y="838800"/>
            <a:ext cx="11486547" cy="543032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202017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65A61D2-944C-25D1-E9C9-FA1A2C5EB79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E1C0AB5-393A-6AC3-C433-C3B5E89F6FC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5555" y="0"/>
            <a:ext cx="11885653" cy="838800"/>
          </a:xfrm>
        </p:spPr>
        <p:txBody>
          <a:bodyPr anchor="ctr">
            <a:normAutofit/>
          </a:bodyPr>
          <a:lstStyle/>
          <a:p>
            <a:r>
              <a:rPr lang="en-IN"/>
              <a:t>Traffic forecasting result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C157B0DB-0715-A8B9-0FA8-A32B80D3E1BF}"/>
              </a:ext>
            </a:extLst>
          </p:cNvPr>
          <p:cNvSpPr txBox="1"/>
          <p:nvPr/>
        </p:nvSpPr>
        <p:spPr>
          <a:xfrm>
            <a:off x="8976320" y="2852936"/>
            <a:ext cx="47320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buFont typeface="Wingdings" panose="05000000000000000000" pitchFamily="2" charset="2"/>
              <a:buChar char="§"/>
            </a:pPr>
            <a:endParaRPr lang="en-US" err="1">
              <a:solidFill>
                <a:schemeClr val="accent2"/>
              </a:solidFill>
              <a:latin typeface="Montserrat" pitchFamily="2" charset="0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98BA8BA2-7697-2F5B-B1C2-D4AC909EC4D1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8237" b="6475"/>
          <a:stretch>
            <a:fillRect/>
          </a:stretch>
        </p:blipFill>
        <p:spPr>
          <a:xfrm>
            <a:off x="795" y="793622"/>
            <a:ext cx="11885653" cy="507316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6078798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D156B1C-797C-1CF1-486D-6B232A6FF0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0D6C8B6-48AD-432C-A6B6-4237220EE36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5555" y="0"/>
            <a:ext cx="11885653" cy="838800"/>
          </a:xfrm>
        </p:spPr>
        <p:txBody>
          <a:bodyPr anchor="ctr">
            <a:normAutofit/>
          </a:bodyPr>
          <a:lstStyle/>
          <a:p>
            <a:r>
              <a:rPr lang="en-IN"/>
              <a:t>Network state classification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732BB82-8E95-27D1-B2F4-590A9A218084}"/>
              </a:ext>
            </a:extLst>
          </p:cNvPr>
          <p:cNvSpPr txBox="1"/>
          <p:nvPr/>
        </p:nvSpPr>
        <p:spPr>
          <a:xfrm>
            <a:off x="8976320" y="2852936"/>
            <a:ext cx="47320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buFont typeface="Wingdings" panose="05000000000000000000" pitchFamily="2" charset="2"/>
              <a:buChar char="§"/>
            </a:pPr>
            <a:endParaRPr lang="en-US" err="1">
              <a:solidFill>
                <a:schemeClr val="accent2"/>
              </a:solidFill>
              <a:latin typeface="Montserrat" pitchFamily="2" charset="0"/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33C2EF7A-1E7D-6FFC-137F-0D5CAAC40D3B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6634" b="188"/>
          <a:stretch>
            <a:fillRect/>
          </a:stretch>
        </p:blipFill>
        <p:spPr>
          <a:xfrm>
            <a:off x="369852" y="926674"/>
            <a:ext cx="10396749" cy="3043909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B7F8BB11-1910-7C4A-E652-ECEE5385011D}"/>
              </a:ext>
            </a:extLst>
          </p:cNvPr>
          <p:cNvSpPr txBox="1"/>
          <p:nvPr/>
        </p:nvSpPr>
        <p:spPr>
          <a:xfrm>
            <a:off x="1801978" y="4058456"/>
            <a:ext cx="7766263" cy="258532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SLA</a:t>
            </a:r>
            <a:r>
              <a:rPr lang="en-US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 states are derived from blocking-ratio thresholds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Normal</a:t>
            </a:r>
            <a:r>
              <a:rPr lang="en-US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 operations are common during low-demand periods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Degraded</a:t>
            </a:r>
            <a:r>
              <a:rPr lang="en-US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 and </a:t>
            </a:r>
            <a:r>
              <a:rPr lang="en-US" b="1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failure-prone</a:t>
            </a:r>
            <a:r>
              <a:rPr lang="en-US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 states start after 16:00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Highest </a:t>
            </a:r>
            <a:r>
              <a:rPr lang="en-US" b="1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SLA risk </a:t>
            </a:r>
            <a:r>
              <a:rPr lang="en-US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occurs during the evening hour window (20:00-24:00)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Random forest achieved </a:t>
            </a:r>
            <a:r>
              <a:rPr lang="en-US" b="1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97.2%</a:t>
            </a:r>
            <a:r>
              <a:rPr lang="en-US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 classification accuracy over the classes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These results show proactive prediction can be achieved before service disruption</a:t>
            </a:r>
          </a:p>
        </p:txBody>
      </p:sp>
    </p:spTree>
    <p:extLst>
      <p:ext uri="{BB962C8B-B14F-4D97-AF65-F5344CB8AC3E}">
        <p14:creationId xmlns:p14="http://schemas.microsoft.com/office/powerpoint/2010/main" val="346902310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1A72AFE-60F6-4F45-CE34-8353F439BBD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DE9D8C3-9C03-C366-A423-7F1DCE43D69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5555" y="0"/>
            <a:ext cx="11885653" cy="838800"/>
          </a:xfrm>
        </p:spPr>
        <p:txBody>
          <a:bodyPr anchor="ctr">
            <a:normAutofit/>
          </a:bodyPr>
          <a:lstStyle/>
          <a:p>
            <a:r>
              <a:rPr lang="en-IN"/>
              <a:t>Agent architecture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A8BCFFA-C7DD-5FB6-07EA-BD67DB3685F8}"/>
              </a:ext>
            </a:extLst>
          </p:cNvPr>
          <p:cNvSpPr txBox="1"/>
          <p:nvPr/>
        </p:nvSpPr>
        <p:spPr>
          <a:xfrm>
            <a:off x="8976320" y="2852936"/>
            <a:ext cx="47320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buFont typeface="Wingdings" panose="05000000000000000000" pitchFamily="2" charset="2"/>
              <a:buChar char="§"/>
            </a:pPr>
            <a:endParaRPr lang="en-US" err="1">
              <a:solidFill>
                <a:schemeClr val="accent2"/>
              </a:solidFill>
              <a:latin typeface="Montserrat" pitchFamily="2" charset="0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65CC2F48-22E3-25C6-BF53-DADB2A9A9C89}"/>
              </a:ext>
            </a:extLst>
          </p:cNvPr>
          <p:cNvSpPr/>
          <p:nvPr/>
        </p:nvSpPr>
        <p:spPr>
          <a:xfrm>
            <a:off x="786861" y="1429660"/>
            <a:ext cx="4213847" cy="2356817"/>
          </a:xfrm>
          <a:prstGeom prst="rect">
            <a:avLst/>
          </a:prstGeom>
        </p:spPr>
        <p:style>
          <a:lnRef idx="2">
            <a:schemeClr val="accent5"/>
          </a:lnRef>
          <a:fillRef idx="1">
            <a:schemeClr val="lt1"/>
          </a:fillRef>
          <a:effectRef idx="0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/>
              <a:t>Reads the predicted Enterprise, RAN, and PON traffic values from </a:t>
            </a:r>
            <a:r>
              <a:rPr lang="en-US" sz="1400" err="1"/>
              <a:t>XGBoost</a:t>
            </a:r>
            <a:r>
              <a:rPr lang="en-US" sz="1400"/>
              <a:t> regressor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/>
              <a:t>Computes total predicted traffic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/>
              <a:t>Recreates time-of-day features which are used by the Random Forest model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/>
              <a:t>Converts each 5-minute interval into a readable time and slot index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/>
              <a:t>Loads </a:t>
            </a:r>
            <a:r>
              <a:rPr lang="en-US" sz="1400" err="1"/>
              <a:t>XGBoost</a:t>
            </a:r>
            <a:r>
              <a:rPr lang="en-US" sz="1400"/>
              <a:t> regressor metrics for reporting</a:t>
            </a:r>
            <a:br>
              <a:rPr lang="en-US" sz="1600"/>
            </a:br>
            <a:br>
              <a:rPr lang="en-US" sz="1400"/>
            </a:br>
            <a:endParaRPr lang="en-US" sz="1400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FD5AD389-4B83-6FAF-FC13-D3A603F8C5BE}"/>
              </a:ext>
            </a:extLst>
          </p:cNvPr>
          <p:cNvSpPr/>
          <p:nvPr/>
        </p:nvSpPr>
        <p:spPr>
          <a:xfrm>
            <a:off x="6248380" y="1503386"/>
            <a:ext cx="2959268" cy="2106925"/>
          </a:xfrm>
          <a:prstGeom prst="rect">
            <a:avLst/>
          </a:prstGeom>
        </p:spPr>
        <p:style>
          <a:lnRef idx="2">
            <a:schemeClr val="accent5"/>
          </a:lnRef>
          <a:fillRef idx="1">
            <a:schemeClr val="lt1"/>
          </a:fillRef>
          <a:effectRef idx="0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/>
              <a:t>Loads pre-trained classifier model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/>
              <a:t>Processes forecasted traffic features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/>
              <a:t>Predicts network states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/>
              <a:t>Computes SLA risk scores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/>
              <a:t>Forwards risk information to recovery agent</a:t>
            </a:r>
            <a:br>
              <a:rPr lang="en-US" sz="1600"/>
            </a:br>
            <a:br>
              <a:rPr lang="en-US" sz="1600"/>
            </a:br>
            <a:endParaRPr lang="en-US" sz="1600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7BE18EE8-CABB-1EF1-3969-CD893D8C0049}"/>
              </a:ext>
            </a:extLst>
          </p:cNvPr>
          <p:cNvSpPr/>
          <p:nvPr/>
        </p:nvSpPr>
        <p:spPr>
          <a:xfrm>
            <a:off x="5836999" y="4405050"/>
            <a:ext cx="3176415" cy="1920926"/>
          </a:xfrm>
          <a:prstGeom prst="rect">
            <a:avLst/>
          </a:prstGeom>
        </p:spPr>
        <p:style>
          <a:lnRef idx="2">
            <a:schemeClr val="accent5"/>
          </a:lnRef>
          <a:fillRef idx="1">
            <a:schemeClr val="lt1"/>
          </a:fillRef>
          <a:effectRef idx="0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/>
              <a:t>Receives predicted SLA States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/>
              <a:t>Maps states to recovery actions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/>
              <a:t>Generates proactive mitigation recommendations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/>
              <a:t>Passes operations to the operator assistant</a:t>
            </a:r>
            <a:br>
              <a:rPr lang="en-US" sz="1600"/>
            </a:br>
            <a:br>
              <a:rPr lang="en-US" sz="1600"/>
            </a:br>
            <a:endParaRPr lang="en-US" sz="160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97FC2C5-7B08-9C98-8498-F36F281DFE7A}"/>
              </a:ext>
            </a:extLst>
          </p:cNvPr>
          <p:cNvSpPr txBox="1"/>
          <p:nvPr/>
        </p:nvSpPr>
        <p:spPr>
          <a:xfrm>
            <a:off x="1320230" y="1028913"/>
            <a:ext cx="296412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/>
              <a:t>Traffic Forecaster Agent</a:t>
            </a:r>
          </a:p>
        </p:txBody>
      </p:sp>
      <p:sp>
        <p:nvSpPr>
          <p:cNvPr id="8" name="Arrow: Right 7">
            <a:extLst>
              <a:ext uri="{FF2B5EF4-FFF2-40B4-BE49-F238E27FC236}">
                <a16:creationId xmlns:a16="http://schemas.microsoft.com/office/drawing/2014/main" id="{4051084F-3310-0CCB-3F5C-10669D7E037C}"/>
              </a:ext>
            </a:extLst>
          </p:cNvPr>
          <p:cNvSpPr/>
          <p:nvPr/>
        </p:nvSpPr>
        <p:spPr>
          <a:xfrm>
            <a:off x="5474920" y="2332027"/>
            <a:ext cx="362078" cy="165696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CEB08F5-FDD1-2EFD-58F8-A9F316EA35ED}"/>
              </a:ext>
            </a:extLst>
          </p:cNvPr>
          <p:cNvSpPr txBox="1"/>
          <p:nvPr/>
        </p:nvSpPr>
        <p:spPr>
          <a:xfrm>
            <a:off x="6249389" y="1033534"/>
            <a:ext cx="296412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/>
              <a:t>SLA Classifier Agent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BD2BD729-8FB5-130A-FB06-DC6CEEC3E73D}"/>
              </a:ext>
            </a:extLst>
          </p:cNvPr>
          <p:cNvSpPr txBox="1"/>
          <p:nvPr/>
        </p:nvSpPr>
        <p:spPr>
          <a:xfrm>
            <a:off x="6364210" y="3991470"/>
            <a:ext cx="296412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/>
              <a:t>Recovery Agent</a:t>
            </a:r>
          </a:p>
        </p:txBody>
      </p:sp>
      <p:sp>
        <p:nvSpPr>
          <p:cNvPr id="12" name="Arrow: Right 11">
            <a:extLst>
              <a:ext uri="{FF2B5EF4-FFF2-40B4-BE49-F238E27FC236}">
                <a16:creationId xmlns:a16="http://schemas.microsoft.com/office/drawing/2014/main" id="{3F518F0B-285F-71C4-9B9E-488C082CFDD1}"/>
              </a:ext>
            </a:extLst>
          </p:cNvPr>
          <p:cNvSpPr/>
          <p:nvPr/>
        </p:nvSpPr>
        <p:spPr>
          <a:xfrm rot="5400000">
            <a:off x="7001413" y="3798162"/>
            <a:ext cx="226380" cy="176134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30BA11F2-E655-8144-D1B9-9C602FB8E94C}"/>
              </a:ext>
            </a:extLst>
          </p:cNvPr>
          <p:cNvSpPr/>
          <p:nvPr/>
        </p:nvSpPr>
        <p:spPr>
          <a:xfrm>
            <a:off x="786860" y="4373933"/>
            <a:ext cx="3826846" cy="2359337"/>
          </a:xfrm>
          <a:prstGeom prst="rect">
            <a:avLst/>
          </a:prstGeom>
        </p:spPr>
        <p:style>
          <a:lnRef idx="2">
            <a:schemeClr val="accent5"/>
          </a:lnRef>
          <a:fillRef idx="1">
            <a:schemeClr val="lt1"/>
          </a:fillRef>
          <a:effectRef idx="0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/>
              <a:t>Receives Outputs from  the Recovery agent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/>
              <a:t>Generates natural language explanations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/>
              <a:t>Answers Network Operator questions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/>
              <a:t>Supports Network decision making</a:t>
            </a:r>
            <a:br>
              <a:rPr lang="en-US"/>
            </a:br>
            <a:br>
              <a:rPr lang="en-US" sz="1600"/>
            </a:br>
            <a:endParaRPr lang="en-US" sz="160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FD48E8B6-8960-D277-B023-100165B8164B}"/>
              </a:ext>
            </a:extLst>
          </p:cNvPr>
          <p:cNvSpPr txBox="1"/>
          <p:nvPr/>
        </p:nvSpPr>
        <p:spPr>
          <a:xfrm>
            <a:off x="1097738" y="3993965"/>
            <a:ext cx="296412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/>
              <a:t>Assistant Agent</a:t>
            </a:r>
          </a:p>
        </p:txBody>
      </p:sp>
      <p:sp>
        <p:nvSpPr>
          <p:cNvPr id="14" name="Arrow: Right 13">
            <a:extLst>
              <a:ext uri="{FF2B5EF4-FFF2-40B4-BE49-F238E27FC236}">
                <a16:creationId xmlns:a16="http://schemas.microsoft.com/office/drawing/2014/main" id="{3ACB4F1D-7A58-C97C-B9D6-2CF783D5A760}"/>
              </a:ext>
            </a:extLst>
          </p:cNvPr>
          <p:cNvSpPr/>
          <p:nvPr/>
        </p:nvSpPr>
        <p:spPr>
          <a:xfrm rot="10800000">
            <a:off x="5044314" y="5006698"/>
            <a:ext cx="362078" cy="165696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5229367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C130307-F592-2BF2-E1F4-56D27177B12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BD95C2B-3801-2AE1-B2CC-867F912DBBF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5555" y="0"/>
            <a:ext cx="11885653" cy="838800"/>
          </a:xfrm>
        </p:spPr>
        <p:txBody>
          <a:bodyPr anchor="ctr">
            <a:normAutofit/>
          </a:bodyPr>
          <a:lstStyle/>
          <a:p>
            <a:r>
              <a:rPr lang="en-IN" dirty="0"/>
              <a:t>changes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55B8E1C-F69D-C6F0-E892-8AC075BC30E9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387580" y="752388"/>
            <a:ext cx="11426771" cy="4813793"/>
          </a:xfrm>
        </p:spPr>
        <p:txBody>
          <a:bodyPr vert="horz" lIns="91440" tIns="45720" rIns="91440" bIns="45720" rtlCol="0" anchor="t">
            <a:normAutofit/>
          </a:bodyPr>
          <a:lstStyle/>
          <a:p>
            <a:pPr marL="457200" lvl="1" indent="0">
              <a:buNone/>
            </a:pPr>
            <a:endParaRPr lang="en-US" sz="1100" dirty="0"/>
          </a:p>
          <a:p>
            <a:pPr marL="800100" lvl="1" indent="-342900"/>
            <a:r>
              <a:rPr lang="en-US" sz="1600" dirty="0"/>
              <a:t>Reconstruction of the system</a:t>
            </a:r>
          </a:p>
          <a:p>
            <a:pPr marL="800100" lvl="1" indent="-342900"/>
            <a:r>
              <a:rPr lang="en-US" sz="1600" dirty="0"/>
              <a:t>Grounded recovery recommendations in observed subcarrier allocations in mappings with the document</a:t>
            </a:r>
          </a:p>
          <a:p>
            <a:pPr marL="800100" lvl="1" indent="-342900"/>
            <a:r>
              <a:rPr lang="en-US" sz="1600" dirty="0"/>
              <a:t>Creation of an easy to use web application for Demo purpose</a:t>
            </a:r>
          </a:p>
          <a:p>
            <a:pPr>
              <a:buFont typeface="Arial" panose="020B0604020202020204" pitchFamily="34" charset="0"/>
              <a:buChar char="•"/>
            </a:pPr>
            <a:endParaRPr lang="en-US" sz="1600" dirty="0"/>
          </a:p>
          <a:p>
            <a:endParaRPr lang="en-US" sz="1600" dirty="0"/>
          </a:p>
          <a:p>
            <a:endParaRPr lang="en-IN" sz="1100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CC56DFC7-711E-51E5-D4CD-DF5058A67A2D}"/>
              </a:ext>
            </a:extLst>
          </p:cNvPr>
          <p:cNvSpPr txBox="1"/>
          <p:nvPr/>
        </p:nvSpPr>
        <p:spPr>
          <a:xfrm>
            <a:off x="8976320" y="2852936"/>
            <a:ext cx="47320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buFont typeface="Wingdings" panose="05000000000000000000" pitchFamily="2" charset="2"/>
              <a:buChar char="§"/>
            </a:pPr>
            <a:endParaRPr lang="en-US" err="1">
              <a:solidFill>
                <a:schemeClr val="accent2"/>
              </a:solidFill>
              <a:latin typeface="Montserrat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5246664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08C4019-00CE-B6FD-B294-F1B5A8792DE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702765E-4040-2D53-F68C-212825C750D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5555" y="0"/>
            <a:ext cx="11885653" cy="838800"/>
          </a:xfrm>
        </p:spPr>
        <p:txBody>
          <a:bodyPr anchor="ctr">
            <a:normAutofit/>
          </a:bodyPr>
          <a:lstStyle/>
          <a:p>
            <a:r>
              <a:rPr lang="en-IN" dirty="0"/>
              <a:t>Todays demo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42A53E0-C034-2C2F-3DF0-B130AAD3AEB5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142105" y="401130"/>
            <a:ext cx="11346196" cy="5642275"/>
          </a:xfrm>
        </p:spPr>
        <p:txBody>
          <a:bodyPr vert="horz" lIns="91440" tIns="45720" rIns="91440" bIns="45720" rtlCol="0" anchor="t">
            <a:normAutofit fontScale="92500" lnSpcReduction="20000"/>
          </a:bodyPr>
          <a:lstStyle/>
          <a:p>
            <a:pPr marL="457200" lvl="1" indent="0">
              <a:buNone/>
            </a:pPr>
            <a:endParaRPr lang="en-US" sz="1100" dirty="0"/>
          </a:p>
          <a:p>
            <a:pPr>
              <a:buFont typeface="Arial" panose="020B0604020202020204" pitchFamily="34" charset="0"/>
              <a:buChar char="•"/>
            </a:pPr>
            <a:endParaRPr lang="en-US" sz="1600" dirty="0"/>
          </a:p>
          <a:p>
            <a:pPr marL="0" marR="0">
              <a:lnSpc>
                <a:spcPct val="115000"/>
              </a:lnSpc>
              <a:spcAft>
                <a:spcPts val="800"/>
              </a:spcAft>
              <a:buNone/>
            </a:pPr>
            <a:r>
              <a:rPr lang="en-US" sz="2000" b="1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1. Forecast overview</a:t>
            </a:r>
            <a:endParaRPr lang="en-US" sz="2000" kern="100" dirty="0">
              <a:effectLst/>
              <a:latin typeface="Aptos" panose="020B0004020202020204" pitchFamily="34" charset="0"/>
              <a:ea typeface="Aptos" panose="020B0004020202020204" pitchFamily="34" charset="0"/>
              <a:cs typeface="Times New Roman" panose="02020603050405020304" pitchFamily="18" charset="0"/>
            </a:endParaRPr>
          </a:p>
          <a:p>
            <a:pPr marL="0" marR="0">
              <a:lnSpc>
                <a:spcPct val="115000"/>
              </a:lnSpc>
              <a:spcAft>
                <a:spcPts val="800"/>
              </a:spcAft>
              <a:buNone/>
            </a:pPr>
            <a:r>
              <a:rPr lang="en-US" sz="2000" kern="100" dirty="0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T</a:t>
            </a:r>
            <a:r>
              <a:rPr lang="en-US" sz="20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: “Generate an operational summary for tomorrow”</a:t>
            </a:r>
          </a:p>
          <a:p>
            <a:pPr marL="0" marR="0">
              <a:lnSpc>
                <a:spcPct val="115000"/>
              </a:lnSpc>
              <a:spcAft>
                <a:spcPts val="800"/>
              </a:spcAft>
              <a:buNone/>
            </a:pPr>
            <a:r>
              <a:rPr lang="en-US" sz="20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Demonstrates:</a:t>
            </a:r>
          </a:p>
          <a:p>
            <a:pPr marL="342900" marR="0" lvl="0" indent="-342900">
              <a:lnSpc>
                <a:spcPct val="115000"/>
              </a:lnSpc>
              <a:spcAft>
                <a:spcPts val="800"/>
              </a:spcAft>
              <a:buSzPts val="1000"/>
              <a:buFont typeface="Symbol" panose="05050102010706020507" pitchFamily="18" charset="2"/>
              <a:buChar char=""/>
              <a:tabLst>
                <a:tab pos="457200" algn="l"/>
              </a:tabLst>
            </a:pPr>
            <a:r>
              <a:rPr lang="en-US" sz="2000" b="1" kern="100" dirty="0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Assistant </a:t>
            </a:r>
            <a:r>
              <a:rPr lang="en-US" sz="2000" b="1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Agent:</a:t>
            </a:r>
            <a:r>
              <a:rPr lang="en-US" sz="20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recognizes a day-ahead summary request. </a:t>
            </a:r>
          </a:p>
          <a:p>
            <a:pPr marL="342900" marR="0" lvl="0" indent="-342900">
              <a:lnSpc>
                <a:spcPct val="115000"/>
              </a:lnSpc>
              <a:spcAft>
                <a:spcPts val="800"/>
              </a:spcAft>
              <a:buSzPts val="1000"/>
              <a:buFont typeface="Symbol" panose="05050102010706020507" pitchFamily="18" charset="2"/>
              <a:buChar char=""/>
              <a:tabLst>
                <a:tab pos="457200" algn="l"/>
              </a:tabLst>
            </a:pPr>
            <a:r>
              <a:rPr lang="en-US" sz="2000" b="1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Forecast Agent:</a:t>
            </a:r>
            <a:r>
              <a:rPr lang="en-US" sz="20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supplies 288 five-minute traffic intervals. </a:t>
            </a:r>
          </a:p>
          <a:p>
            <a:pPr marL="342900" marR="0" lvl="0" indent="-342900">
              <a:lnSpc>
                <a:spcPct val="115000"/>
              </a:lnSpc>
              <a:spcAft>
                <a:spcPts val="800"/>
              </a:spcAft>
              <a:buSzPts val="1000"/>
              <a:buFont typeface="Symbol" panose="05050102010706020507" pitchFamily="18" charset="2"/>
              <a:buChar char=""/>
              <a:tabLst>
                <a:tab pos="457200" algn="l"/>
              </a:tabLst>
            </a:pPr>
            <a:r>
              <a:rPr lang="en-US" sz="2000" b="1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SLA Agent:</a:t>
            </a:r>
            <a:r>
              <a:rPr lang="en-US" sz="20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provides state classifications and risk scores. </a:t>
            </a:r>
          </a:p>
          <a:p>
            <a:pPr marL="342900" marR="0" lvl="0" indent="-342900">
              <a:lnSpc>
                <a:spcPct val="115000"/>
              </a:lnSpc>
              <a:spcAft>
                <a:spcPts val="800"/>
              </a:spcAft>
              <a:buSzPts val="1000"/>
              <a:buFont typeface="Symbol" panose="05050102010706020507" pitchFamily="18" charset="2"/>
              <a:buChar char=""/>
              <a:tabLst>
                <a:tab pos="457200" algn="l"/>
              </a:tabLst>
            </a:pPr>
            <a:r>
              <a:rPr lang="en-US" sz="2000" b="1" kern="100" dirty="0">
                <a:effectLst/>
                <a:highlight>
                  <a:srgbClr val="FFFF00"/>
                </a:highlight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Guardrail Agent:</a:t>
            </a:r>
            <a:r>
              <a:rPr lang="en-US" sz="2000" kern="100" dirty="0">
                <a:effectLst/>
                <a:highlight>
                  <a:srgbClr val="FFFF00"/>
                </a:highlight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attaches the low-confidence warning. </a:t>
            </a:r>
          </a:p>
          <a:p>
            <a:pPr marL="342900" marR="0" lvl="0" indent="-342900">
              <a:lnSpc>
                <a:spcPct val="115000"/>
              </a:lnSpc>
              <a:spcAft>
                <a:spcPts val="800"/>
              </a:spcAft>
              <a:buSzPts val="1000"/>
              <a:buFont typeface="Symbol" panose="05050102010706020507" pitchFamily="18" charset="2"/>
              <a:buChar char=""/>
              <a:tabLst>
                <a:tab pos="457200" algn="l"/>
              </a:tabLst>
            </a:pPr>
            <a:r>
              <a:rPr lang="en-US" sz="2000" b="1" kern="100" dirty="0">
                <a:effectLst/>
                <a:highlight>
                  <a:srgbClr val="FFFF00"/>
                </a:highlight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Operator Response Agent:</a:t>
            </a:r>
            <a:r>
              <a:rPr lang="en-US" sz="2000" kern="100" dirty="0">
                <a:effectLst/>
                <a:highlight>
                  <a:srgbClr val="FFFF00"/>
                </a:highlight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produces the concise summary. </a:t>
            </a:r>
          </a:p>
          <a:p>
            <a:pPr marL="0" marR="0">
              <a:lnSpc>
                <a:spcPct val="115000"/>
              </a:lnSpc>
              <a:spcAft>
                <a:spcPts val="800"/>
              </a:spcAft>
              <a:buNone/>
            </a:pPr>
            <a:r>
              <a:rPr lang="en-US" sz="20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Purpose:</a:t>
            </a:r>
          </a:p>
          <a:p>
            <a:pPr marL="0" marR="0">
              <a:lnSpc>
                <a:spcPct val="115000"/>
              </a:lnSpc>
              <a:spcAft>
                <a:spcPts val="800"/>
              </a:spcAft>
              <a:buNone/>
            </a:pPr>
            <a:r>
              <a:rPr lang="en-US" sz="20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Establishes the complete day-ahead operational situation.</a:t>
            </a:r>
          </a:p>
          <a:p>
            <a:endParaRPr lang="en-US" sz="1600" dirty="0"/>
          </a:p>
          <a:p>
            <a:endParaRPr lang="en-IN" sz="1100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76C3229C-D205-32B3-517F-5814FC73B254}"/>
              </a:ext>
            </a:extLst>
          </p:cNvPr>
          <p:cNvSpPr txBox="1"/>
          <p:nvPr/>
        </p:nvSpPr>
        <p:spPr>
          <a:xfrm>
            <a:off x="8976320" y="2852936"/>
            <a:ext cx="47320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buFont typeface="Wingdings" panose="05000000000000000000" pitchFamily="2" charset="2"/>
              <a:buChar char="§"/>
            </a:pPr>
            <a:endParaRPr lang="en-US" err="1">
              <a:solidFill>
                <a:schemeClr val="accent2"/>
              </a:solidFill>
              <a:latin typeface="Montserrat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32003400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AEEED4A-4C2E-D470-29EB-231264C71B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9AD18DA-ECC0-B996-1E47-5C7EBD5383F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5555" y="0"/>
            <a:ext cx="11885653" cy="838800"/>
          </a:xfrm>
        </p:spPr>
        <p:txBody>
          <a:bodyPr anchor="ctr">
            <a:normAutofit/>
          </a:bodyPr>
          <a:lstStyle/>
          <a:p>
            <a:r>
              <a:rPr lang="en-IN" dirty="0"/>
              <a:t>Todays demo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83F115A-E0E5-E5AB-FBEC-D79276CF2606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346568" y="709430"/>
            <a:ext cx="11498864" cy="4813793"/>
          </a:xfrm>
        </p:spPr>
        <p:txBody>
          <a:bodyPr vert="horz" lIns="91440" tIns="45720" rIns="91440" bIns="45720" rtlCol="0" anchor="t">
            <a:normAutofit fontScale="25000" lnSpcReduction="20000"/>
          </a:bodyPr>
          <a:lstStyle/>
          <a:p>
            <a:pPr marL="457200" lvl="1" indent="0">
              <a:buNone/>
            </a:pPr>
            <a:endParaRPr lang="en-US" sz="1100" dirty="0"/>
          </a:p>
          <a:p>
            <a:pPr>
              <a:buFont typeface="Arial" panose="020B0604020202020204" pitchFamily="34" charset="0"/>
              <a:buChar char="•"/>
            </a:pPr>
            <a:endParaRPr lang="en-US" sz="1600" dirty="0"/>
          </a:p>
          <a:p>
            <a:pPr marL="0" marR="0">
              <a:lnSpc>
                <a:spcPct val="115000"/>
              </a:lnSpc>
              <a:spcAft>
                <a:spcPts val="800"/>
              </a:spcAft>
              <a:buNone/>
            </a:pPr>
            <a:r>
              <a:rPr lang="en-US" sz="7200" b="1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2. SLA-risk detection</a:t>
            </a:r>
            <a:endParaRPr lang="en-US" sz="7200" kern="100" dirty="0">
              <a:effectLst/>
              <a:latin typeface="Aptos" panose="020B0004020202020204" pitchFamily="34" charset="0"/>
              <a:ea typeface="Aptos" panose="020B0004020202020204" pitchFamily="34" charset="0"/>
              <a:cs typeface="Times New Roman" panose="02020603050405020304" pitchFamily="18" charset="0"/>
            </a:endParaRPr>
          </a:p>
          <a:p>
            <a:pPr marL="0" marR="0">
              <a:lnSpc>
                <a:spcPct val="115000"/>
              </a:lnSpc>
              <a:spcAft>
                <a:spcPts val="800"/>
              </a:spcAft>
              <a:buNone/>
            </a:pPr>
            <a:r>
              <a:rPr lang="en-US" sz="7200" kern="100" dirty="0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T</a:t>
            </a:r>
            <a:r>
              <a:rPr lang="en-US" sz="72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: “Tell me the next predicted SLA-risk interval”</a:t>
            </a:r>
          </a:p>
          <a:p>
            <a:pPr marL="0" marR="0">
              <a:lnSpc>
                <a:spcPct val="115000"/>
              </a:lnSpc>
              <a:spcAft>
                <a:spcPts val="800"/>
              </a:spcAft>
              <a:buNone/>
            </a:pPr>
            <a:r>
              <a:rPr lang="en-US" sz="72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Demonstrates:</a:t>
            </a:r>
          </a:p>
          <a:p>
            <a:pPr marL="342900" marR="0" lvl="0" indent="-342900">
              <a:lnSpc>
                <a:spcPct val="115000"/>
              </a:lnSpc>
              <a:spcAft>
                <a:spcPts val="800"/>
              </a:spcAft>
              <a:buSzPts val="1000"/>
              <a:buFont typeface="Symbol" panose="05050102010706020507" pitchFamily="18" charset="2"/>
              <a:buChar char=""/>
              <a:tabLst>
                <a:tab pos="457200" algn="l"/>
              </a:tabLst>
            </a:pPr>
            <a:r>
              <a:rPr lang="en-US" sz="7200" b="1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Assistant Agent:</a:t>
            </a:r>
            <a:r>
              <a:rPr lang="en-US" sz="72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selects the </a:t>
            </a:r>
            <a:r>
              <a:rPr lang="en-US" sz="7200" kern="100" dirty="0" err="1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next_risk</a:t>
            </a:r>
            <a:r>
              <a:rPr lang="en-US" sz="72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workflow. </a:t>
            </a:r>
          </a:p>
          <a:p>
            <a:pPr marL="342900" marR="0" lvl="0" indent="-342900">
              <a:lnSpc>
                <a:spcPct val="115000"/>
              </a:lnSpc>
              <a:spcAft>
                <a:spcPts val="800"/>
              </a:spcAft>
              <a:buSzPts val="1000"/>
              <a:buFont typeface="Symbol" panose="05050102010706020507" pitchFamily="18" charset="2"/>
              <a:buChar char=""/>
              <a:tabLst>
                <a:tab pos="457200" algn="l"/>
              </a:tabLst>
            </a:pPr>
            <a:r>
              <a:rPr lang="en-US" sz="7200" b="1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SLA Agent:</a:t>
            </a:r>
            <a:r>
              <a:rPr lang="en-US" sz="72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identifies the earliest non-normal classification. </a:t>
            </a:r>
          </a:p>
          <a:p>
            <a:pPr marL="342900" marR="0" lvl="0" indent="-342900">
              <a:lnSpc>
                <a:spcPct val="115000"/>
              </a:lnSpc>
              <a:spcAft>
                <a:spcPts val="800"/>
              </a:spcAft>
              <a:buSzPts val="1000"/>
              <a:buFont typeface="Symbol" panose="05050102010706020507" pitchFamily="18" charset="2"/>
              <a:buChar char=""/>
              <a:tabLst>
                <a:tab pos="457200" algn="l"/>
              </a:tabLst>
            </a:pPr>
            <a:r>
              <a:rPr lang="en-US" sz="7200" b="1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Guardrail Agent:</a:t>
            </a:r>
            <a:r>
              <a:rPr lang="en-US" sz="72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detects low classifier confidence. </a:t>
            </a:r>
          </a:p>
          <a:p>
            <a:pPr marL="342900" marR="0" lvl="0" indent="-342900">
              <a:lnSpc>
                <a:spcPct val="115000"/>
              </a:lnSpc>
              <a:spcAft>
                <a:spcPts val="800"/>
              </a:spcAft>
              <a:buSzPts val="1000"/>
              <a:buFont typeface="Symbol" panose="05050102010706020507" pitchFamily="18" charset="2"/>
              <a:buChar char=""/>
              <a:tabLst>
                <a:tab pos="457200" algn="l"/>
              </a:tabLst>
            </a:pPr>
            <a:r>
              <a:rPr lang="en-US" sz="7200" b="1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Operator Response Agent:</a:t>
            </a:r>
            <a:r>
              <a:rPr lang="en-US" sz="72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explains the interval and warning. </a:t>
            </a:r>
          </a:p>
          <a:p>
            <a:pPr marL="0" marR="0">
              <a:lnSpc>
                <a:spcPct val="115000"/>
              </a:lnSpc>
              <a:spcAft>
                <a:spcPts val="800"/>
              </a:spcAft>
              <a:buNone/>
            </a:pPr>
            <a:r>
              <a:rPr lang="en-US" sz="72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Purpose:</a:t>
            </a:r>
          </a:p>
          <a:p>
            <a:pPr marL="0" marR="0">
              <a:lnSpc>
                <a:spcPct val="115000"/>
              </a:lnSpc>
              <a:spcAft>
                <a:spcPts val="800"/>
              </a:spcAft>
              <a:buNone/>
            </a:pPr>
            <a:r>
              <a:rPr lang="en-US" sz="72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Shows proactive identification of the first potential service problem.</a:t>
            </a:r>
          </a:p>
          <a:p>
            <a:pPr marL="0" marR="0">
              <a:lnSpc>
                <a:spcPct val="115000"/>
              </a:lnSpc>
              <a:spcAft>
                <a:spcPts val="800"/>
              </a:spcAft>
              <a:buNone/>
            </a:pPr>
            <a:endParaRPr lang="en-US" sz="7200" dirty="0"/>
          </a:p>
          <a:p>
            <a:endParaRPr lang="en-IN" sz="1100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122BE7D-2636-6A97-4455-A55C3ED12F6E}"/>
              </a:ext>
            </a:extLst>
          </p:cNvPr>
          <p:cNvSpPr txBox="1"/>
          <p:nvPr/>
        </p:nvSpPr>
        <p:spPr>
          <a:xfrm>
            <a:off x="8976320" y="2852936"/>
            <a:ext cx="47320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buFont typeface="Wingdings" panose="05000000000000000000" pitchFamily="2" charset="2"/>
              <a:buChar char="§"/>
            </a:pPr>
            <a:endParaRPr lang="en-US" err="1">
              <a:solidFill>
                <a:schemeClr val="accent2"/>
              </a:solidFill>
              <a:latin typeface="Montserrat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56045435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6A7B1EC-DF35-D791-7718-75F0B0DFC1A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40B94DD-6632-65C8-E9CC-1E5DA0525E8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62596" y="93032"/>
            <a:ext cx="11885653" cy="838800"/>
          </a:xfrm>
        </p:spPr>
        <p:txBody>
          <a:bodyPr anchor="ctr">
            <a:normAutofit/>
          </a:bodyPr>
          <a:lstStyle/>
          <a:p>
            <a:r>
              <a:rPr lang="en-IN" dirty="0"/>
              <a:t>Todays demo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C7D42B1-C814-7DFD-1BC5-5D7991D1E689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346568" y="425678"/>
            <a:ext cx="11498864" cy="5593180"/>
          </a:xfrm>
        </p:spPr>
        <p:txBody>
          <a:bodyPr vert="horz" lIns="91440" tIns="45720" rIns="91440" bIns="45720" rtlCol="0" anchor="t">
            <a:normAutofit/>
          </a:bodyPr>
          <a:lstStyle/>
          <a:p>
            <a:pPr marL="457200" lvl="1" indent="0">
              <a:buNone/>
            </a:pPr>
            <a:endParaRPr lang="en-US" sz="1100" dirty="0"/>
          </a:p>
          <a:p>
            <a:pPr>
              <a:buFont typeface="Arial" panose="020B0604020202020204" pitchFamily="34" charset="0"/>
              <a:buChar char="•"/>
            </a:pPr>
            <a:endParaRPr lang="en-US" sz="1600" dirty="0"/>
          </a:p>
          <a:p>
            <a:pPr marL="0" marR="0">
              <a:lnSpc>
                <a:spcPct val="115000"/>
              </a:lnSpc>
              <a:spcAft>
                <a:spcPts val="800"/>
              </a:spcAft>
              <a:buNone/>
            </a:pPr>
            <a:r>
              <a:rPr lang="en-US" sz="1800" b="1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3. Diagnosis</a:t>
            </a:r>
            <a:endParaRPr lang="en-US" sz="1800" kern="100" dirty="0">
              <a:effectLst/>
              <a:latin typeface="Aptos" panose="020B0004020202020204" pitchFamily="34" charset="0"/>
              <a:ea typeface="Aptos" panose="020B0004020202020204" pitchFamily="34" charset="0"/>
              <a:cs typeface="Times New Roman" panose="02020603050405020304" pitchFamily="18" charset="0"/>
            </a:endParaRPr>
          </a:p>
          <a:p>
            <a:pPr marL="0" marR="0">
              <a:lnSpc>
                <a:spcPct val="115000"/>
              </a:lnSpc>
              <a:spcAft>
                <a:spcPts val="800"/>
              </a:spcAft>
              <a:buNone/>
            </a:pPr>
            <a:r>
              <a:rPr lang="en-US" sz="18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T: “Which service contributes most during the highest-risk interval?”</a:t>
            </a:r>
          </a:p>
          <a:p>
            <a:pPr marL="0" marR="0">
              <a:lnSpc>
                <a:spcPct val="115000"/>
              </a:lnSpc>
              <a:spcAft>
                <a:spcPts val="800"/>
              </a:spcAft>
              <a:buNone/>
            </a:pPr>
            <a:r>
              <a:rPr lang="en-US" sz="18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Demonstrates:</a:t>
            </a:r>
          </a:p>
          <a:p>
            <a:pPr marL="342900" marR="0" lvl="0" indent="-342900">
              <a:lnSpc>
                <a:spcPct val="115000"/>
              </a:lnSpc>
              <a:spcAft>
                <a:spcPts val="800"/>
              </a:spcAft>
              <a:buSzPts val="1000"/>
              <a:buFont typeface="Symbol" panose="05050102010706020507" pitchFamily="18" charset="2"/>
              <a:buChar char=""/>
              <a:tabLst>
                <a:tab pos="457200" algn="l"/>
              </a:tabLst>
            </a:pPr>
            <a:r>
              <a:rPr lang="en-US" sz="1800" b="1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Assistant Agent:</a:t>
            </a:r>
            <a:r>
              <a:rPr lang="en-US" sz="18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distinguishes diagnosis from basic forecasting</a:t>
            </a:r>
          </a:p>
          <a:p>
            <a:pPr marL="342900" marR="0" lvl="0" indent="-342900">
              <a:lnSpc>
                <a:spcPct val="115000"/>
              </a:lnSpc>
              <a:spcAft>
                <a:spcPts val="800"/>
              </a:spcAft>
              <a:buSzPts val="1000"/>
              <a:buFont typeface="Symbol" panose="05050102010706020507" pitchFamily="18" charset="2"/>
              <a:buChar char=""/>
              <a:tabLst>
                <a:tab pos="457200" algn="l"/>
              </a:tabLst>
            </a:pPr>
            <a:r>
              <a:rPr lang="en-US" sz="1800" b="1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SLA Agent:</a:t>
            </a:r>
            <a:r>
              <a:rPr lang="en-US" sz="18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locates the highest-risk interval </a:t>
            </a:r>
          </a:p>
          <a:p>
            <a:pPr marL="342900" marR="0" lvl="0" indent="-342900">
              <a:lnSpc>
                <a:spcPct val="115000"/>
              </a:lnSpc>
              <a:spcAft>
                <a:spcPts val="800"/>
              </a:spcAft>
              <a:buSzPts val="1000"/>
              <a:buFont typeface="Symbol" panose="05050102010706020507" pitchFamily="18" charset="2"/>
              <a:buChar char=""/>
              <a:tabLst>
                <a:tab pos="457200" algn="l"/>
              </a:tabLst>
            </a:pPr>
            <a:r>
              <a:rPr lang="en-US" sz="1800" b="1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Diagnosis Agent:</a:t>
            </a:r>
            <a:r>
              <a:rPr lang="en-US" sz="18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compares Enterprise, RAN and PON contributions </a:t>
            </a:r>
          </a:p>
          <a:p>
            <a:pPr marL="342900" marR="0" lvl="0" indent="-342900">
              <a:lnSpc>
                <a:spcPct val="115000"/>
              </a:lnSpc>
              <a:spcAft>
                <a:spcPts val="800"/>
              </a:spcAft>
              <a:buSzPts val="1000"/>
              <a:buFont typeface="Symbol" panose="05050102010706020507" pitchFamily="18" charset="2"/>
              <a:buChar char=""/>
              <a:tabLst>
                <a:tab pos="457200" algn="l"/>
              </a:tabLst>
            </a:pPr>
            <a:r>
              <a:rPr lang="en-US" sz="1800" b="1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Operator Response Agent:</a:t>
            </a:r>
            <a:r>
              <a:rPr lang="en-US" sz="18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identifies RAN as the dominant service. </a:t>
            </a:r>
          </a:p>
          <a:p>
            <a:pPr marL="0" marR="0">
              <a:lnSpc>
                <a:spcPct val="115000"/>
              </a:lnSpc>
              <a:spcAft>
                <a:spcPts val="800"/>
              </a:spcAft>
              <a:buNone/>
            </a:pPr>
            <a:r>
              <a:rPr lang="en-US" sz="18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Purpose:</a:t>
            </a:r>
          </a:p>
          <a:p>
            <a:pPr marL="0" marR="0">
              <a:lnSpc>
                <a:spcPct val="115000"/>
              </a:lnSpc>
              <a:spcAft>
                <a:spcPts val="800"/>
              </a:spcAft>
              <a:buNone/>
            </a:pPr>
            <a:r>
              <a:rPr lang="en-US" sz="18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Moves from detecting risk to explaining the likely contributing service</a:t>
            </a:r>
          </a:p>
          <a:p>
            <a:endParaRPr lang="en-IN" sz="1100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FD6A5829-2E0F-7B1B-369C-208623DEBA3A}"/>
              </a:ext>
            </a:extLst>
          </p:cNvPr>
          <p:cNvSpPr txBox="1"/>
          <p:nvPr/>
        </p:nvSpPr>
        <p:spPr>
          <a:xfrm>
            <a:off x="8976320" y="2852936"/>
            <a:ext cx="47320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buFont typeface="Wingdings" panose="05000000000000000000" pitchFamily="2" charset="2"/>
              <a:buChar char="§"/>
            </a:pPr>
            <a:endParaRPr lang="en-US" err="1">
              <a:solidFill>
                <a:schemeClr val="accent2"/>
              </a:solidFill>
              <a:latin typeface="Montserrat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94869536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96A0C4D-A214-BCE7-BCA2-FF373C5A856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C2A8DB-78FF-51C1-BEA0-F03DF70AB50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5555" y="0"/>
            <a:ext cx="11885653" cy="838800"/>
          </a:xfrm>
        </p:spPr>
        <p:txBody>
          <a:bodyPr anchor="ctr">
            <a:normAutofit/>
          </a:bodyPr>
          <a:lstStyle/>
          <a:p>
            <a:r>
              <a:rPr lang="en-IN" dirty="0"/>
              <a:t>Todays demo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A5AAEC6-43D9-C2AE-B6C1-D855251FF9FC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503427" y="419400"/>
            <a:ext cx="11383018" cy="5648412"/>
          </a:xfrm>
        </p:spPr>
        <p:txBody>
          <a:bodyPr vert="horz" lIns="91440" tIns="45720" rIns="91440" bIns="45720" rtlCol="0" anchor="t">
            <a:normAutofit lnSpcReduction="10000"/>
          </a:bodyPr>
          <a:lstStyle/>
          <a:p>
            <a:pPr marL="457200" lvl="1" indent="0">
              <a:buNone/>
            </a:pPr>
            <a:endParaRPr lang="en-US" sz="1100" dirty="0"/>
          </a:p>
          <a:p>
            <a:pPr>
              <a:buFont typeface="Arial" panose="020B0604020202020204" pitchFamily="34" charset="0"/>
              <a:buChar char="•"/>
            </a:pPr>
            <a:endParaRPr lang="en-US" sz="1600" dirty="0"/>
          </a:p>
          <a:p>
            <a:pPr marL="0" marR="0">
              <a:lnSpc>
                <a:spcPct val="115000"/>
              </a:lnSpc>
              <a:spcAft>
                <a:spcPts val="800"/>
              </a:spcAft>
              <a:buNone/>
            </a:pPr>
            <a:r>
              <a:rPr lang="en-US" sz="1800" b="1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4. Recovery and allocation</a:t>
            </a:r>
            <a:endParaRPr lang="en-US" sz="1800" kern="100" dirty="0">
              <a:effectLst/>
              <a:latin typeface="Aptos" panose="020B0004020202020204" pitchFamily="34" charset="0"/>
              <a:ea typeface="Aptos" panose="020B0004020202020204" pitchFamily="34" charset="0"/>
              <a:cs typeface="Times New Roman" panose="02020603050405020304" pitchFamily="18" charset="0"/>
            </a:endParaRPr>
          </a:p>
          <a:p>
            <a:pPr marL="0" marR="0">
              <a:lnSpc>
                <a:spcPct val="115000"/>
              </a:lnSpc>
              <a:spcAft>
                <a:spcPts val="800"/>
              </a:spcAft>
              <a:buNone/>
            </a:pPr>
            <a:r>
              <a:rPr lang="en-US" sz="18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T: “What subcarrier allocation is recommended at the highest-risk interval?”</a:t>
            </a:r>
          </a:p>
          <a:p>
            <a:pPr marL="0" marR="0">
              <a:lnSpc>
                <a:spcPct val="115000"/>
              </a:lnSpc>
              <a:spcAft>
                <a:spcPts val="800"/>
              </a:spcAft>
              <a:buNone/>
            </a:pPr>
            <a:r>
              <a:rPr lang="en-US" sz="18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Demonstrates:</a:t>
            </a:r>
          </a:p>
          <a:p>
            <a:pPr marL="342900" marR="0" lvl="0" indent="-342900">
              <a:lnSpc>
                <a:spcPct val="115000"/>
              </a:lnSpc>
              <a:spcAft>
                <a:spcPts val="800"/>
              </a:spcAft>
              <a:buSzPts val="1000"/>
              <a:buFont typeface="Symbol" panose="05050102010706020507" pitchFamily="18" charset="2"/>
              <a:buChar char=""/>
              <a:tabLst>
                <a:tab pos="457200" algn="l"/>
              </a:tabLst>
            </a:pPr>
            <a:r>
              <a:rPr lang="en-US" sz="1800" b="1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Assistant Agent:</a:t>
            </a:r>
            <a:r>
              <a:rPr lang="en-US" sz="18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selects the recovery workflow </a:t>
            </a:r>
          </a:p>
          <a:p>
            <a:pPr marL="342900" marR="0" lvl="0" indent="-342900">
              <a:lnSpc>
                <a:spcPct val="115000"/>
              </a:lnSpc>
              <a:spcAft>
                <a:spcPts val="800"/>
              </a:spcAft>
              <a:buSzPts val="1000"/>
              <a:buFont typeface="Symbol" panose="05050102010706020507" pitchFamily="18" charset="2"/>
              <a:buChar char=""/>
              <a:tabLst>
                <a:tab pos="457200" algn="l"/>
              </a:tabLst>
            </a:pPr>
            <a:r>
              <a:rPr lang="en-US" sz="1800" b="1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Recovery Agent:</a:t>
            </a:r>
            <a:r>
              <a:rPr lang="en-US" sz="18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evaluates the three observed allocations </a:t>
            </a:r>
          </a:p>
          <a:p>
            <a:pPr marL="342900" marR="0" lvl="0" indent="-342900">
              <a:lnSpc>
                <a:spcPct val="115000"/>
              </a:lnSpc>
              <a:spcAft>
                <a:spcPts val="800"/>
              </a:spcAft>
              <a:buSzPts val="1000"/>
              <a:buFont typeface="Symbol" panose="05050102010706020507" pitchFamily="18" charset="2"/>
              <a:buChar char=""/>
              <a:tabLst>
                <a:tab pos="457200" algn="l"/>
              </a:tabLst>
            </a:pPr>
            <a:r>
              <a:rPr lang="en-US" sz="1800" b="1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Recovery Agent:</a:t>
            </a:r>
            <a:r>
              <a:rPr lang="en-US" sz="18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calculates per-service capacities and residual overflow </a:t>
            </a:r>
          </a:p>
          <a:p>
            <a:pPr marL="342900" marR="0" lvl="0" indent="-342900">
              <a:lnSpc>
                <a:spcPct val="115000"/>
              </a:lnSpc>
              <a:spcAft>
                <a:spcPts val="800"/>
              </a:spcAft>
              <a:buSzPts val="1000"/>
              <a:buFont typeface="Symbol" panose="05050102010706020507" pitchFamily="18" charset="2"/>
              <a:buChar char=""/>
              <a:tabLst>
                <a:tab pos="457200" algn="l"/>
              </a:tabLst>
            </a:pPr>
            <a:r>
              <a:rPr lang="en-US" sz="1800" b="1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Guardrail Agent:</a:t>
            </a:r>
            <a:r>
              <a:rPr lang="en-US" sz="18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ensures the recommendation remains advisory </a:t>
            </a:r>
          </a:p>
          <a:p>
            <a:pPr marL="342900" marR="0" lvl="0" indent="-342900">
              <a:lnSpc>
                <a:spcPct val="115000"/>
              </a:lnSpc>
              <a:spcAft>
                <a:spcPts val="800"/>
              </a:spcAft>
              <a:buSzPts val="1000"/>
              <a:buFont typeface="Symbol" panose="05050102010706020507" pitchFamily="18" charset="2"/>
              <a:buChar char=""/>
              <a:tabLst>
                <a:tab pos="457200" algn="l"/>
              </a:tabLst>
            </a:pPr>
            <a:r>
              <a:rPr lang="en-US" sz="1800" b="1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Operator Response Agent:</a:t>
            </a:r>
            <a:r>
              <a:rPr lang="en-US" sz="18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translates allocation codes into readable language </a:t>
            </a:r>
          </a:p>
          <a:p>
            <a:pPr marL="0" marR="0">
              <a:lnSpc>
                <a:spcPct val="115000"/>
              </a:lnSpc>
              <a:spcAft>
                <a:spcPts val="800"/>
              </a:spcAft>
              <a:buNone/>
            </a:pPr>
            <a:r>
              <a:rPr lang="en-US" sz="18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Purpose:</a:t>
            </a:r>
          </a:p>
          <a:p>
            <a:pPr>
              <a:buNone/>
            </a:pPr>
            <a:r>
              <a:rPr lang="en-US" sz="18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Shows actionable decision support while retaining human approval</a:t>
            </a:r>
            <a:endParaRPr lang="en-IN" sz="1600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FEBB430-5A22-5363-4A12-F76ABE9E170C}"/>
              </a:ext>
            </a:extLst>
          </p:cNvPr>
          <p:cNvSpPr txBox="1"/>
          <p:nvPr/>
        </p:nvSpPr>
        <p:spPr>
          <a:xfrm>
            <a:off x="8976320" y="2852936"/>
            <a:ext cx="47320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buFont typeface="Wingdings" panose="05000000000000000000" pitchFamily="2" charset="2"/>
              <a:buChar char="§"/>
            </a:pPr>
            <a:endParaRPr lang="en-US" err="1">
              <a:solidFill>
                <a:schemeClr val="accent2"/>
              </a:solidFill>
              <a:latin typeface="Montserrat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14255056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DF3CF0C-9E23-F196-508B-D8762299BD8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0FC4A52-49BF-DEA7-C00B-01B192638BA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5555" y="0"/>
            <a:ext cx="11885653" cy="838800"/>
          </a:xfrm>
        </p:spPr>
        <p:txBody>
          <a:bodyPr anchor="ctr">
            <a:normAutofit/>
          </a:bodyPr>
          <a:lstStyle/>
          <a:p>
            <a:r>
              <a:rPr lang="en-IN" dirty="0"/>
              <a:t>Todays demo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A0A445E-CE42-967E-FD3D-B9FDC7F45028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387581" y="752388"/>
            <a:ext cx="11383018" cy="5648412"/>
          </a:xfrm>
        </p:spPr>
        <p:txBody>
          <a:bodyPr vert="horz" lIns="91440" tIns="45720" rIns="91440" bIns="45720" rtlCol="0" anchor="t">
            <a:normAutofit/>
          </a:bodyPr>
          <a:lstStyle/>
          <a:p>
            <a:pPr marL="457200" lvl="1" indent="0">
              <a:buNone/>
            </a:pPr>
            <a:endParaRPr lang="en-US" sz="1400" dirty="0"/>
          </a:p>
          <a:p>
            <a:pPr marL="0" marR="0">
              <a:lnSpc>
                <a:spcPct val="115000"/>
              </a:lnSpc>
              <a:spcAft>
                <a:spcPts val="800"/>
              </a:spcAft>
              <a:buNone/>
            </a:pPr>
            <a:r>
              <a:rPr lang="en-US" sz="1800" b="1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5. Service traffic analysis</a:t>
            </a:r>
            <a:endParaRPr lang="en-US" sz="1800" kern="100" dirty="0">
              <a:effectLst/>
              <a:latin typeface="Aptos" panose="020B0004020202020204" pitchFamily="34" charset="0"/>
              <a:ea typeface="Aptos" panose="020B0004020202020204" pitchFamily="34" charset="0"/>
              <a:cs typeface="Times New Roman" panose="02020603050405020304" pitchFamily="18" charset="0"/>
            </a:endParaRPr>
          </a:p>
          <a:p>
            <a:pPr marL="0" marR="0">
              <a:lnSpc>
                <a:spcPct val="115000"/>
              </a:lnSpc>
              <a:spcAft>
                <a:spcPts val="800"/>
              </a:spcAft>
              <a:buNone/>
            </a:pPr>
            <a:r>
              <a:rPr lang="en-US" sz="18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T: “When is RAN traffic expected to peak?”</a:t>
            </a:r>
          </a:p>
          <a:p>
            <a:pPr marL="0" marR="0">
              <a:lnSpc>
                <a:spcPct val="115000"/>
              </a:lnSpc>
              <a:spcAft>
                <a:spcPts val="800"/>
              </a:spcAft>
              <a:buNone/>
            </a:pPr>
            <a:r>
              <a:rPr lang="en-US" sz="18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Demonstrates:</a:t>
            </a:r>
          </a:p>
          <a:p>
            <a:pPr marL="342900" marR="0" lvl="0" indent="-342900">
              <a:lnSpc>
                <a:spcPct val="115000"/>
              </a:lnSpc>
              <a:spcAft>
                <a:spcPts val="800"/>
              </a:spcAft>
              <a:buSzPts val="1000"/>
              <a:buFont typeface="Symbol" panose="05050102010706020507" pitchFamily="18" charset="2"/>
              <a:buChar char=""/>
              <a:tabLst>
                <a:tab pos="457200" algn="l"/>
              </a:tabLst>
            </a:pPr>
            <a:r>
              <a:rPr lang="en-US" sz="1800" b="1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Assistant Agent:</a:t>
            </a:r>
            <a:r>
              <a:rPr lang="en-US" sz="18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extracts service=ran, selects </a:t>
            </a:r>
            <a:r>
              <a:rPr lang="en-US" sz="1800" kern="100" dirty="0" err="1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service_peak</a:t>
            </a:r>
            <a:r>
              <a:rPr lang="en-US" sz="18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and which result to display (</a:t>
            </a:r>
            <a:r>
              <a:rPr lang="en-US" sz="1800" kern="100" dirty="0" err="1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top_k</a:t>
            </a:r>
            <a:r>
              <a:rPr lang="en-US" sz="18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)</a:t>
            </a:r>
          </a:p>
          <a:p>
            <a:pPr marL="342900" marR="0" lvl="0" indent="-342900">
              <a:lnSpc>
                <a:spcPct val="115000"/>
              </a:lnSpc>
              <a:spcAft>
                <a:spcPts val="800"/>
              </a:spcAft>
              <a:buSzPts val="1000"/>
              <a:buFont typeface="Symbol" panose="05050102010706020507" pitchFamily="18" charset="2"/>
              <a:buChar char=""/>
              <a:tabLst>
                <a:tab pos="457200" algn="l"/>
              </a:tabLst>
            </a:pPr>
            <a:r>
              <a:rPr lang="en-US" sz="1800" b="1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Forecast Agent:</a:t>
            </a:r>
            <a:r>
              <a:rPr lang="en-US" sz="18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searches all 288 RAN forecast intervals </a:t>
            </a:r>
          </a:p>
          <a:p>
            <a:pPr marL="342900" marR="0" lvl="0" indent="-342900">
              <a:lnSpc>
                <a:spcPct val="115000"/>
              </a:lnSpc>
              <a:spcAft>
                <a:spcPts val="800"/>
              </a:spcAft>
              <a:buSzPts val="1000"/>
              <a:buFont typeface="Symbol" panose="05050102010706020507" pitchFamily="18" charset="2"/>
              <a:buChar char=""/>
              <a:tabLst>
                <a:tab pos="457200" algn="l"/>
              </a:tabLst>
            </a:pPr>
            <a:r>
              <a:rPr lang="en-US" sz="1800" b="1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Operator Response Agent:</a:t>
            </a:r>
            <a:r>
              <a:rPr lang="en-US" sz="18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returns the peak time and load </a:t>
            </a:r>
          </a:p>
          <a:p>
            <a:pPr marL="0" marR="0">
              <a:lnSpc>
                <a:spcPct val="115000"/>
              </a:lnSpc>
              <a:spcAft>
                <a:spcPts val="800"/>
              </a:spcAft>
              <a:buNone/>
            </a:pPr>
            <a:r>
              <a:rPr lang="en-US" sz="18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Purpose:</a:t>
            </a:r>
          </a:p>
          <a:p>
            <a:pPr marL="0" marR="0">
              <a:lnSpc>
                <a:spcPct val="115000"/>
              </a:lnSpc>
              <a:spcAft>
                <a:spcPts val="800"/>
              </a:spcAft>
              <a:buNone/>
            </a:pPr>
            <a:r>
              <a:rPr lang="en-US" sz="18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Demonstrates service specific analytical tool selection</a:t>
            </a:r>
          </a:p>
          <a:p>
            <a:pPr marL="0" indent="0"/>
            <a:endParaRPr lang="en-US" sz="1600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24BF5D5-014C-3559-A4DB-37FC78DD632D}"/>
              </a:ext>
            </a:extLst>
          </p:cNvPr>
          <p:cNvSpPr txBox="1"/>
          <p:nvPr/>
        </p:nvSpPr>
        <p:spPr>
          <a:xfrm>
            <a:off x="8976320" y="2852936"/>
            <a:ext cx="47320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buFont typeface="Wingdings" panose="05000000000000000000" pitchFamily="2" charset="2"/>
              <a:buChar char="§"/>
            </a:pPr>
            <a:endParaRPr lang="en-US" err="1">
              <a:solidFill>
                <a:schemeClr val="accent2"/>
              </a:solidFill>
              <a:latin typeface="Montserrat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08990252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0417640-1EBB-EBE6-2BFD-38390B39AE5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83E3B62-8CEA-F2A2-4CB1-AFC0ECAB5E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5555" y="0"/>
            <a:ext cx="11885653" cy="838800"/>
          </a:xfrm>
        </p:spPr>
        <p:txBody>
          <a:bodyPr anchor="ctr">
            <a:normAutofit/>
          </a:bodyPr>
          <a:lstStyle/>
          <a:p>
            <a:r>
              <a:rPr lang="en-IN" dirty="0"/>
              <a:t>Todays demo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3A2F523-961B-38E9-8135-DEA394CB16F2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387581" y="752388"/>
            <a:ext cx="11383018" cy="5648412"/>
          </a:xfrm>
        </p:spPr>
        <p:txBody>
          <a:bodyPr vert="horz" lIns="91440" tIns="45720" rIns="91440" bIns="45720" rtlCol="0" anchor="t">
            <a:normAutofit lnSpcReduction="10000"/>
          </a:bodyPr>
          <a:lstStyle/>
          <a:p>
            <a:pPr marL="457200" lvl="1" indent="0">
              <a:buNone/>
            </a:pPr>
            <a:endParaRPr lang="en-US" sz="1400" dirty="0"/>
          </a:p>
          <a:p>
            <a:pPr marL="0" marR="0">
              <a:lnSpc>
                <a:spcPct val="115000"/>
              </a:lnSpc>
              <a:spcAft>
                <a:spcPts val="800"/>
              </a:spcAft>
              <a:buNone/>
            </a:pPr>
            <a:r>
              <a:rPr lang="en-US" sz="1800" b="1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6. Contextual follow-up</a:t>
            </a:r>
            <a:endParaRPr lang="en-US" sz="1800" kern="100" dirty="0">
              <a:effectLst/>
              <a:latin typeface="Aptos" panose="020B0004020202020204" pitchFamily="34" charset="0"/>
              <a:ea typeface="Aptos" panose="020B0004020202020204" pitchFamily="34" charset="0"/>
              <a:cs typeface="Times New Roman" panose="02020603050405020304" pitchFamily="18" charset="0"/>
            </a:endParaRPr>
          </a:p>
          <a:p>
            <a:pPr marL="0" marR="0">
              <a:lnSpc>
                <a:spcPct val="115000"/>
              </a:lnSpc>
              <a:spcAft>
                <a:spcPts val="800"/>
              </a:spcAft>
              <a:buNone/>
            </a:pPr>
            <a:r>
              <a:rPr lang="en-US" sz="1800" kern="100" dirty="0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T: “</a:t>
            </a:r>
            <a:r>
              <a:rPr lang="en-US" sz="18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Do the same for PON”</a:t>
            </a:r>
          </a:p>
          <a:p>
            <a:pPr marL="0" marR="0">
              <a:lnSpc>
                <a:spcPct val="115000"/>
              </a:lnSpc>
              <a:spcAft>
                <a:spcPts val="800"/>
              </a:spcAft>
              <a:buNone/>
            </a:pPr>
            <a:r>
              <a:rPr lang="en-US" sz="18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Demonstrates:</a:t>
            </a:r>
          </a:p>
          <a:p>
            <a:pPr marL="342900" marR="0" lvl="0" indent="-342900">
              <a:lnSpc>
                <a:spcPct val="115000"/>
              </a:lnSpc>
              <a:spcAft>
                <a:spcPts val="800"/>
              </a:spcAft>
              <a:buSzPts val="1000"/>
              <a:buFont typeface="Symbol" panose="05050102010706020507" pitchFamily="18" charset="2"/>
              <a:buChar char=""/>
              <a:tabLst>
                <a:tab pos="457200" algn="l"/>
              </a:tabLst>
            </a:pPr>
            <a:r>
              <a:rPr lang="en-US" sz="1800" b="1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Assistant Agent:</a:t>
            </a:r>
            <a:r>
              <a:rPr lang="en-US" sz="18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interprets a contextual follow-up</a:t>
            </a:r>
          </a:p>
          <a:p>
            <a:pPr marL="342900" marR="0" lvl="0" indent="-342900">
              <a:lnSpc>
                <a:spcPct val="115000"/>
              </a:lnSpc>
              <a:spcAft>
                <a:spcPts val="800"/>
              </a:spcAft>
              <a:buSzPts val="1000"/>
              <a:buFont typeface="Symbol" panose="05050102010706020507" pitchFamily="18" charset="2"/>
              <a:buChar char=""/>
              <a:tabLst>
                <a:tab pos="457200" algn="l"/>
              </a:tabLst>
            </a:pPr>
            <a:r>
              <a:rPr lang="en-US" sz="1800" b="1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Shared conversational state:</a:t>
            </a:r>
            <a:r>
              <a:rPr lang="en-US" sz="18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reuses the previous </a:t>
            </a:r>
            <a:r>
              <a:rPr lang="en-US" sz="1800" kern="100" dirty="0" err="1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service_peak</a:t>
            </a:r>
            <a:r>
              <a:rPr lang="en-US" sz="18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intent </a:t>
            </a:r>
          </a:p>
          <a:p>
            <a:pPr marL="342900" marR="0" lvl="0" indent="-342900">
              <a:lnSpc>
                <a:spcPct val="115000"/>
              </a:lnSpc>
              <a:spcAft>
                <a:spcPts val="800"/>
              </a:spcAft>
              <a:buSzPts val="1000"/>
              <a:buFont typeface="Symbol" panose="05050102010706020507" pitchFamily="18" charset="2"/>
              <a:buChar char=""/>
              <a:tabLst>
                <a:tab pos="457200" algn="l"/>
              </a:tabLst>
            </a:pPr>
            <a:r>
              <a:rPr lang="en-US" sz="1800" b="1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Coordinator:</a:t>
            </a:r>
            <a:r>
              <a:rPr lang="en-US" sz="18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changes the target service from RAN to PON </a:t>
            </a:r>
          </a:p>
          <a:p>
            <a:pPr marL="342900" marR="0" lvl="0" indent="-342900">
              <a:lnSpc>
                <a:spcPct val="115000"/>
              </a:lnSpc>
              <a:spcAft>
                <a:spcPts val="800"/>
              </a:spcAft>
              <a:buSzPts val="1000"/>
              <a:buFont typeface="Symbol" panose="05050102010706020507" pitchFamily="18" charset="2"/>
              <a:buChar char=""/>
              <a:tabLst>
                <a:tab pos="457200" algn="l"/>
              </a:tabLst>
            </a:pPr>
            <a:r>
              <a:rPr lang="en-US" sz="1800" b="1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Forecast Agent:</a:t>
            </a:r>
            <a:r>
              <a:rPr lang="en-US" sz="18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calculates the corresponding PON peak </a:t>
            </a:r>
          </a:p>
          <a:p>
            <a:pPr marL="342900" marR="0" lvl="0" indent="-342900">
              <a:lnSpc>
                <a:spcPct val="115000"/>
              </a:lnSpc>
              <a:spcAft>
                <a:spcPts val="800"/>
              </a:spcAft>
              <a:buSzPts val="1000"/>
              <a:buFont typeface="Symbol" panose="05050102010706020507" pitchFamily="18" charset="2"/>
              <a:buChar char=""/>
              <a:tabLst>
                <a:tab pos="457200" algn="l"/>
              </a:tabLst>
            </a:pPr>
            <a:r>
              <a:rPr lang="en-US" sz="1800" b="1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Operator Response Agent:</a:t>
            </a:r>
            <a:r>
              <a:rPr lang="en-US" sz="18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returns the PON result </a:t>
            </a:r>
          </a:p>
          <a:p>
            <a:pPr marL="0" marR="0">
              <a:lnSpc>
                <a:spcPct val="115000"/>
              </a:lnSpc>
              <a:spcAft>
                <a:spcPts val="800"/>
              </a:spcAft>
              <a:buNone/>
            </a:pPr>
            <a:r>
              <a:rPr lang="en-US" sz="18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Purpose:</a:t>
            </a:r>
          </a:p>
          <a:p>
            <a:pPr marL="0" marR="0">
              <a:lnSpc>
                <a:spcPct val="115000"/>
              </a:lnSpc>
              <a:spcAft>
                <a:spcPts val="800"/>
              </a:spcAft>
              <a:buNone/>
            </a:pPr>
            <a:r>
              <a:rPr lang="en-US" sz="18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Demonstrates that the assistant maintains context instead of treating every question as an isolated command</a:t>
            </a:r>
          </a:p>
          <a:p>
            <a:pPr marL="0" indent="0"/>
            <a:endParaRPr lang="en-US" sz="1600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72F8EAFA-BEA7-7968-E941-62BC8A83AFA4}"/>
              </a:ext>
            </a:extLst>
          </p:cNvPr>
          <p:cNvSpPr txBox="1"/>
          <p:nvPr/>
        </p:nvSpPr>
        <p:spPr>
          <a:xfrm>
            <a:off x="8976320" y="2852936"/>
            <a:ext cx="47320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buFont typeface="Wingdings" panose="05000000000000000000" pitchFamily="2" charset="2"/>
              <a:buChar char="§"/>
            </a:pPr>
            <a:endParaRPr lang="en-US" err="1">
              <a:solidFill>
                <a:schemeClr val="accent2"/>
              </a:solidFill>
              <a:latin typeface="Montserrat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726097141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05C114B-E796-81C3-C10B-60C5B2E2C95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3310E53-8952-A457-A778-DE5AFAE60A4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5555" y="0"/>
            <a:ext cx="11885653" cy="838800"/>
          </a:xfrm>
        </p:spPr>
        <p:txBody>
          <a:bodyPr anchor="ctr">
            <a:normAutofit/>
          </a:bodyPr>
          <a:lstStyle/>
          <a:p>
            <a:r>
              <a:rPr lang="en-IN"/>
              <a:t>Findings and future work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268D24A-B5E0-43B0-9B65-792D99EC597A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387580" y="752388"/>
            <a:ext cx="11426771" cy="4813793"/>
          </a:xfrm>
        </p:spPr>
        <p:txBody>
          <a:bodyPr>
            <a:normAutofit/>
          </a:bodyPr>
          <a:lstStyle/>
          <a:p>
            <a:pPr marL="457200" lvl="1" indent="0">
              <a:buNone/>
            </a:pPr>
            <a:endParaRPr lang="en-US" sz="1100" dirty="0"/>
          </a:p>
          <a:p>
            <a:pPr marL="800100" lvl="1" indent="-342900"/>
            <a:endParaRPr lang="en-US" sz="1100" i="1" dirty="0"/>
          </a:p>
          <a:p>
            <a:pPr>
              <a:buFont typeface="Arial" panose="020B0604020202020204" pitchFamily="34" charset="0"/>
              <a:buChar char="•"/>
            </a:pPr>
            <a:r>
              <a:rPr lang="en-GB" sz="2400" b="1" dirty="0"/>
              <a:t>Future Work: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GB" sz="2000" dirty="0"/>
              <a:t>Stronger documentation with all relevant policies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GB" sz="2000" dirty="0"/>
              <a:t>Integration of data storage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GB" sz="2000" dirty="0"/>
              <a:t>Device a stronger set of Operator Queries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GB" sz="2000" dirty="0"/>
              <a:t>Agent Analysis, system resource usage tracking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GB" sz="2000" dirty="0"/>
              <a:t>Model fine tuning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GB" sz="2000" dirty="0"/>
              <a:t>Cloud deployment</a:t>
            </a:r>
          </a:p>
          <a:p>
            <a:pPr marL="457200" lvl="1" indent="0">
              <a:buNone/>
            </a:pPr>
            <a:endParaRPr lang="en-GB" sz="2000" dirty="0"/>
          </a:p>
          <a:p>
            <a:pPr>
              <a:buFont typeface="Arial" panose="020B0604020202020204" pitchFamily="34" charset="0"/>
              <a:buChar char="•"/>
            </a:pPr>
            <a:endParaRPr lang="en-US" sz="1100" i="1" dirty="0"/>
          </a:p>
          <a:p>
            <a:endParaRPr lang="en-US" sz="1100" dirty="0"/>
          </a:p>
          <a:p>
            <a:endParaRPr lang="en-US" sz="1100" dirty="0"/>
          </a:p>
          <a:p>
            <a:endParaRPr lang="en-IN" sz="1100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67F611D-30CA-A3EF-EF14-7BAA29EA7D99}"/>
              </a:ext>
            </a:extLst>
          </p:cNvPr>
          <p:cNvSpPr txBox="1"/>
          <p:nvPr/>
        </p:nvSpPr>
        <p:spPr>
          <a:xfrm>
            <a:off x="8976320" y="2852936"/>
            <a:ext cx="47320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buFont typeface="Wingdings" panose="05000000000000000000" pitchFamily="2" charset="2"/>
              <a:buChar char="§"/>
            </a:pPr>
            <a:endParaRPr lang="en-US" err="1">
              <a:solidFill>
                <a:schemeClr val="accent2"/>
              </a:solidFill>
              <a:latin typeface="Montserrat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272969208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DF90A9C-2556-2A0D-DD20-7CFDA596CB6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FDAE62F-E29A-3D9D-44F4-222EC7D96A6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5555" y="0"/>
            <a:ext cx="11885653" cy="838800"/>
          </a:xfrm>
        </p:spPr>
        <p:txBody>
          <a:bodyPr anchor="ctr">
            <a:normAutofit/>
          </a:bodyPr>
          <a:lstStyle/>
          <a:p>
            <a:r>
              <a:rPr lang="en-IN" dirty="0"/>
              <a:t>Changelog 18</a:t>
            </a:r>
            <a:r>
              <a:rPr lang="en-IN" baseline="30000" dirty="0"/>
              <a:t>th</a:t>
            </a:r>
            <a:r>
              <a:rPr lang="en-IN" dirty="0"/>
              <a:t> September 2027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F533231-C460-625D-3644-431F41443633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387580" y="752388"/>
            <a:ext cx="11426771" cy="4813793"/>
          </a:xfrm>
        </p:spPr>
        <p:txBody>
          <a:bodyPr>
            <a:normAutofit/>
          </a:bodyPr>
          <a:lstStyle/>
          <a:p>
            <a:pPr marL="457200" lvl="1" indent="0">
              <a:buNone/>
            </a:pPr>
            <a:endParaRPr lang="en-US" sz="1100" dirty="0"/>
          </a:p>
          <a:p>
            <a:pPr marL="800100" lvl="1" indent="-342900"/>
            <a:endParaRPr lang="en-US" sz="1100" i="1" dirty="0"/>
          </a:p>
          <a:p>
            <a:pPr>
              <a:buFont typeface="Arial" panose="020B0604020202020204" pitchFamily="34" charset="0"/>
              <a:buChar char="•"/>
            </a:pPr>
            <a:r>
              <a:rPr lang="en-GB" sz="2400" b="1" dirty="0"/>
              <a:t>Agentic Capabilities: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GB" sz="2400" b="1" dirty="0"/>
              <a:t>Autonomous Tool Selection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GB" sz="2400" b="1" dirty="0"/>
              <a:t>Context aware follow up reasoning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GB" sz="2400" b="1" dirty="0"/>
              <a:t>Addition of tools as capabilities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GB" sz="2400" b="1" dirty="0"/>
              <a:t>Multilingual support</a:t>
            </a:r>
          </a:p>
          <a:p>
            <a:pPr>
              <a:buFont typeface="Arial" panose="020B0604020202020204" pitchFamily="34" charset="0"/>
              <a:buChar char="•"/>
            </a:pPr>
            <a:endParaRPr lang="en-GB" sz="2000" dirty="0"/>
          </a:p>
          <a:p>
            <a:pPr marL="457200" lvl="1" indent="0">
              <a:buNone/>
            </a:pPr>
            <a:endParaRPr lang="en-GB" sz="2000" dirty="0"/>
          </a:p>
          <a:p>
            <a:pPr>
              <a:buFont typeface="Arial" panose="020B0604020202020204" pitchFamily="34" charset="0"/>
              <a:buChar char="•"/>
            </a:pPr>
            <a:endParaRPr lang="en-US" sz="1100" i="1" dirty="0"/>
          </a:p>
          <a:p>
            <a:endParaRPr lang="en-US" sz="1100" dirty="0"/>
          </a:p>
          <a:p>
            <a:endParaRPr lang="en-US" sz="1100" dirty="0"/>
          </a:p>
          <a:p>
            <a:endParaRPr lang="en-IN" sz="1100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F7A0F2C-729B-F061-C23E-33FA9CFC2380}"/>
              </a:ext>
            </a:extLst>
          </p:cNvPr>
          <p:cNvSpPr txBox="1"/>
          <p:nvPr/>
        </p:nvSpPr>
        <p:spPr>
          <a:xfrm>
            <a:off x="8976320" y="2852936"/>
            <a:ext cx="47320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buFont typeface="Wingdings" panose="05000000000000000000" pitchFamily="2" charset="2"/>
              <a:buChar char="§"/>
            </a:pPr>
            <a:endParaRPr lang="en-US" err="1">
              <a:solidFill>
                <a:schemeClr val="accent2"/>
              </a:solidFill>
              <a:latin typeface="Montserrat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671849246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4BFD971-70AA-ED89-5D46-F6D2644CE00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F4F9BC8-A7B8-103F-27AA-F4D68A1342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5555" y="0"/>
            <a:ext cx="11885653" cy="838800"/>
          </a:xfrm>
        </p:spPr>
        <p:txBody>
          <a:bodyPr anchor="ctr">
            <a:normAutofit/>
          </a:bodyPr>
          <a:lstStyle/>
          <a:p>
            <a:r>
              <a:rPr lang="en-IN" dirty="0"/>
              <a:t>tools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4634376-E169-1D87-5192-47D65F79501A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387580" y="752388"/>
            <a:ext cx="11426771" cy="4813793"/>
          </a:xfrm>
        </p:spPr>
        <p:txBody>
          <a:bodyPr>
            <a:normAutofit/>
          </a:bodyPr>
          <a:lstStyle/>
          <a:p>
            <a:pPr marL="457200" lvl="1" indent="0">
              <a:buNone/>
            </a:pPr>
            <a:endParaRPr lang="en-US" sz="1100" dirty="0"/>
          </a:p>
          <a:p>
            <a:pPr marL="800100" lvl="1" indent="-342900"/>
            <a:endParaRPr lang="en-US" sz="1100" i="1" dirty="0"/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US" sz="1400" b="1" dirty="0"/>
              <a:t>Traffic Prediction</a:t>
            </a:r>
            <a:r>
              <a:rPr lang="en-US" sz="1400" dirty="0"/>
              <a:t> — </a:t>
            </a:r>
            <a:r>
              <a:rPr lang="en-US" sz="1400" dirty="0" err="1">
                <a:latin typeface="Courier New" panose="02070309020205020404" pitchFamily="49" charset="0"/>
              </a:rPr>
              <a:t>get_traffic_forecast</a:t>
            </a:r>
            <a:r>
              <a:rPr lang="en-US" sz="1400" dirty="0"/>
              <a:t> 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US" sz="1400" b="1" dirty="0"/>
              <a:t>SLA Risk/State Prediction</a:t>
            </a:r>
            <a:r>
              <a:rPr lang="en-US" sz="1400" dirty="0"/>
              <a:t> — </a:t>
            </a:r>
            <a:r>
              <a:rPr lang="en-US" sz="1400" dirty="0" err="1">
                <a:latin typeface="Courier New" panose="02070309020205020404" pitchFamily="49" charset="0"/>
              </a:rPr>
              <a:t>get_sla_prediction</a:t>
            </a:r>
            <a:r>
              <a:rPr lang="en-US" sz="1400" dirty="0"/>
              <a:t> 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US" sz="1400" b="1" dirty="0"/>
              <a:t>SLA Risk Explanation</a:t>
            </a:r>
            <a:r>
              <a:rPr lang="en-US" sz="1400" dirty="0"/>
              <a:t> — </a:t>
            </a:r>
            <a:r>
              <a:rPr lang="en-US" sz="1400" dirty="0" err="1">
                <a:latin typeface="Courier New" panose="02070309020205020404" pitchFamily="49" charset="0"/>
              </a:rPr>
              <a:t>explain_sla_risk</a:t>
            </a:r>
            <a:r>
              <a:rPr lang="en-US" sz="1400" dirty="0"/>
              <a:t> 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US" sz="1400" b="1" dirty="0"/>
              <a:t>Full Network State</a:t>
            </a:r>
            <a:r>
              <a:rPr lang="en-US" sz="1400" dirty="0"/>
              <a:t> — </a:t>
            </a:r>
            <a:r>
              <a:rPr lang="en-US" sz="1400" dirty="0" err="1">
                <a:latin typeface="Courier New" panose="02070309020205020404" pitchFamily="49" charset="0"/>
              </a:rPr>
              <a:t>get_network_state_at_time</a:t>
            </a:r>
            <a:r>
              <a:rPr lang="en-US" sz="1400" dirty="0"/>
              <a:t> 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US" sz="1400" b="1" dirty="0"/>
              <a:t>Policy Comparison &amp; Recommendation</a:t>
            </a:r>
            <a:r>
              <a:rPr lang="en-US" sz="1400" dirty="0"/>
              <a:t> — </a:t>
            </a:r>
            <a:r>
              <a:rPr lang="en-US" sz="1400" dirty="0" err="1">
                <a:latin typeface="Courier New" panose="02070309020205020404" pitchFamily="49" charset="0"/>
              </a:rPr>
              <a:t>compare_policies_at_time</a:t>
            </a:r>
            <a:r>
              <a:rPr lang="en-US" sz="1400" dirty="0"/>
              <a:t> 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US" sz="1400" b="1" dirty="0"/>
              <a:t>Policy Counterfactual Simulation</a:t>
            </a:r>
            <a:r>
              <a:rPr lang="en-US" sz="1400" dirty="0"/>
              <a:t> — </a:t>
            </a:r>
            <a:r>
              <a:rPr lang="en-US" sz="1400" dirty="0" err="1">
                <a:latin typeface="Courier New" panose="02070309020205020404" pitchFamily="49" charset="0"/>
              </a:rPr>
              <a:t>simulate_policy_at_time</a:t>
            </a:r>
            <a:r>
              <a:rPr lang="en-US" sz="1400" dirty="0"/>
              <a:t> 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US" sz="1400" b="1" dirty="0"/>
              <a:t>SC Constraint Analysis</a:t>
            </a:r>
            <a:r>
              <a:rPr lang="en-US" sz="1400" dirty="0"/>
              <a:t> — </a:t>
            </a:r>
            <a:r>
              <a:rPr lang="en-US" sz="1400" dirty="0" err="1">
                <a:latin typeface="Courier New" panose="02070309020205020404" pitchFamily="49" charset="0"/>
              </a:rPr>
              <a:t>analyze_constrained_allocation</a:t>
            </a:r>
            <a:r>
              <a:rPr lang="en-US" sz="1400" dirty="0"/>
              <a:t> 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US" sz="1400" b="1" dirty="0"/>
              <a:t>Temporal Network Comparison</a:t>
            </a:r>
            <a:r>
              <a:rPr lang="en-US" sz="1400" dirty="0"/>
              <a:t> — </a:t>
            </a:r>
            <a:r>
              <a:rPr lang="en-US" sz="1400" dirty="0" err="1">
                <a:latin typeface="Courier New" panose="02070309020205020404" pitchFamily="49" charset="0"/>
              </a:rPr>
              <a:t>compare_network_states</a:t>
            </a:r>
            <a:r>
              <a:rPr lang="en-US" sz="1400" dirty="0"/>
              <a:t> 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US" sz="1400" b="1" dirty="0"/>
              <a:t>Risk/Peak Interval Discovery</a:t>
            </a:r>
            <a:r>
              <a:rPr lang="en-US" sz="1400" dirty="0"/>
              <a:t> — </a:t>
            </a:r>
            <a:r>
              <a:rPr lang="en-US" sz="1400" dirty="0" err="1">
                <a:latin typeface="Courier New" panose="02070309020205020404" pitchFamily="49" charset="0"/>
              </a:rPr>
              <a:t>find_risk_intervals</a:t>
            </a:r>
            <a:r>
              <a:rPr lang="en-US" sz="1400" dirty="0"/>
              <a:t> 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US" sz="1400" b="1" dirty="0"/>
              <a:t>Time-Range Summary</a:t>
            </a:r>
            <a:r>
              <a:rPr lang="en-US" sz="1400" dirty="0"/>
              <a:t> — </a:t>
            </a:r>
            <a:r>
              <a:rPr lang="en-US" sz="1400" dirty="0" err="1">
                <a:latin typeface="Courier New" panose="02070309020205020404" pitchFamily="49" charset="0"/>
              </a:rPr>
              <a:t>summarize_time_range</a:t>
            </a:r>
            <a:r>
              <a:rPr lang="en-US" sz="1400" dirty="0"/>
              <a:t> 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US" sz="1400" b="1" dirty="0"/>
              <a:t>Context Clarification</a:t>
            </a:r>
            <a:r>
              <a:rPr lang="en-US" sz="1400" dirty="0"/>
              <a:t> — </a:t>
            </a:r>
            <a:r>
              <a:rPr lang="en-US" sz="1400" dirty="0" err="1">
                <a:latin typeface="Courier New" panose="02070309020205020404" pitchFamily="49" charset="0"/>
              </a:rPr>
              <a:t>request_clarification</a:t>
            </a:r>
            <a:r>
              <a:rPr lang="en-US" sz="1400" dirty="0"/>
              <a:t> 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US" sz="1400" b="1" dirty="0"/>
              <a:t>Physical-Layer Scope Guardrail</a:t>
            </a:r>
            <a:r>
              <a:rPr lang="en-US" sz="1400" dirty="0"/>
              <a:t> — </a:t>
            </a:r>
            <a:r>
              <a:rPr lang="en-US" sz="1400" dirty="0" err="1">
                <a:latin typeface="Courier New" panose="02070309020205020404" pitchFamily="49" charset="0"/>
              </a:rPr>
              <a:t>decline_physical_layer</a:t>
            </a:r>
            <a:r>
              <a:rPr lang="en-US" sz="1400" dirty="0"/>
              <a:t> 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US" sz="1400" b="1" dirty="0"/>
              <a:t>General Out-of-Scope Guardrail</a:t>
            </a:r>
            <a:r>
              <a:rPr lang="en-US" sz="1400" dirty="0"/>
              <a:t> — </a:t>
            </a:r>
            <a:r>
              <a:rPr lang="en-US" sz="1400" dirty="0" err="1">
                <a:latin typeface="Courier New" panose="02070309020205020404" pitchFamily="49" charset="0"/>
              </a:rPr>
              <a:t>decline_out_of_scope</a:t>
            </a:r>
            <a:endParaRPr lang="en-US" sz="1400" dirty="0"/>
          </a:p>
          <a:p>
            <a:pPr>
              <a:buFont typeface="Arial" panose="020B0604020202020204" pitchFamily="34" charset="0"/>
              <a:buChar char="•"/>
            </a:pPr>
            <a:endParaRPr lang="en-GB" sz="2000" dirty="0"/>
          </a:p>
          <a:p>
            <a:pPr marL="457200" lvl="1" indent="0">
              <a:buNone/>
            </a:pPr>
            <a:endParaRPr lang="en-GB" sz="2000" dirty="0"/>
          </a:p>
          <a:p>
            <a:pPr>
              <a:buFont typeface="Arial" panose="020B0604020202020204" pitchFamily="34" charset="0"/>
              <a:buChar char="•"/>
            </a:pPr>
            <a:endParaRPr lang="en-US" sz="1100" i="1" dirty="0"/>
          </a:p>
          <a:p>
            <a:endParaRPr lang="en-US" sz="1100" dirty="0"/>
          </a:p>
          <a:p>
            <a:endParaRPr lang="en-US" sz="1100" dirty="0"/>
          </a:p>
          <a:p>
            <a:endParaRPr lang="en-IN" sz="1100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E1903B8-F308-A847-CE4D-EE18EC0ABD9A}"/>
              </a:ext>
            </a:extLst>
          </p:cNvPr>
          <p:cNvSpPr txBox="1"/>
          <p:nvPr/>
        </p:nvSpPr>
        <p:spPr>
          <a:xfrm>
            <a:off x="8976320" y="2852936"/>
            <a:ext cx="47320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buFont typeface="Wingdings" panose="05000000000000000000" pitchFamily="2" charset="2"/>
              <a:buChar char="§"/>
            </a:pPr>
            <a:endParaRPr lang="en-US" err="1">
              <a:solidFill>
                <a:schemeClr val="accent2"/>
              </a:solidFill>
              <a:latin typeface="Montserrat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585927000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FC667A8-DCA2-02C1-2D0C-C730BAAEAC0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C7D69CC-E432-96D1-EB47-862199E23B1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5555" y="0"/>
            <a:ext cx="11885653" cy="838800"/>
          </a:xfrm>
        </p:spPr>
        <p:txBody>
          <a:bodyPr anchor="ctr">
            <a:normAutofit/>
          </a:bodyPr>
          <a:lstStyle/>
          <a:p>
            <a:r>
              <a:rPr lang="en-IN" dirty="0"/>
              <a:t>Evaluation steps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E1CEBB5E-ECF0-7FF5-347B-2E75797E5B25}"/>
                  </a:ext>
                </a:extLst>
              </p:cNvPr>
              <p:cNvSpPr>
                <a:spLocks noGrp="1"/>
              </p:cNvSpPr>
              <p:nvPr>
                <p:ph sz="quarter" idx="10"/>
              </p:nvPr>
            </p:nvSpPr>
            <p:spPr>
              <a:xfrm>
                <a:off x="172788" y="556007"/>
                <a:ext cx="11426771" cy="5924573"/>
              </a:xfrm>
            </p:spPr>
            <p:txBody>
              <a:bodyPr>
                <a:normAutofit/>
              </a:bodyPr>
              <a:lstStyle/>
              <a:p>
                <a:pPr marL="457200" lvl="1" indent="0">
                  <a:buNone/>
                </a:pPr>
                <a:endParaRPr lang="en-US" sz="1100" dirty="0"/>
              </a:p>
              <a:p>
                <a:pPr marL="800100" lvl="1" indent="-342900"/>
                <a:endParaRPr lang="en-US" sz="1100" i="1" dirty="0"/>
              </a:p>
              <a:p>
                <a:pPr>
                  <a:buNone/>
                </a:pPr>
                <a14:m>
                  <m:oMathPara xmlns:m="http://schemas.openxmlformats.org/officeDocument/2006/math">
                    <m:oMath>
                      <m:r>
                        <m:rPr>
                          <m:nor/>
                        </m:rPr>
                        <a:rPr lang="en-US" sz="1400" b="0" i="0"/>
                        <m:t>Tool Accuracy</m:t>
                      </m:r>
                      <m:r>
                        <a:rPr lang="en-US" sz="1400" b="0" i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sz="1400" b="0" i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m:rPr>
                              <m:nor/>
                            </m:rPr>
                            <a:rPr lang="en-US" sz="1400" b="0" i="0">
                              <a:latin typeface="Cambria Math" panose="02040503050406030204" pitchFamily="18" charset="0"/>
                            </a:rPr>
                            <m:t>Correct tool selections</m:t>
                          </m:r>
                        </m:num>
                        <m:den>
                          <m:r>
                            <m:rPr>
                              <m:nor/>
                            </m:rPr>
                            <a:rPr lang="en-US" sz="1400" b="0" i="0">
                              <a:latin typeface="Cambria Math" panose="02040503050406030204" pitchFamily="18" charset="0"/>
                            </a:rPr>
                            <m:t>Total queries</m:t>
                          </m:r>
                        </m:den>
                      </m:f>
                      <m:r>
                        <a:rPr lang="en-US" sz="1400" b="0" i="0">
                          <a:latin typeface="Cambria Math" panose="02040503050406030204" pitchFamily="18" charset="0"/>
                        </a:rPr>
                        <m:t>×100</m:t>
                      </m:r>
                    </m:oMath>
                  </m:oMathPara>
                </a14:m>
                <a:endParaRPr lang="en-US" sz="1400" b="0" dirty="0"/>
              </a:p>
              <a:p>
                <a:pPr>
                  <a:buNone/>
                </a:pPr>
                <a:r>
                  <a:rPr lang="en-US" sz="1400" dirty="0"/>
                  <a:t>Argument Accuracy=Total queries/Queries with correct extracted arguments​×100</a:t>
                </a:r>
              </a:p>
              <a:p>
                <a:pPr>
                  <a:buNone/>
                </a:pPr>
                <a:endParaRPr lang="en-US" sz="1400" dirty="0"/>
              </a:p>
              <a:p>
                <a:pPr>
                  <a:buNone/>
                </a:pPr>
                <a:r>
                  <a:rPr lang="en-US" sz="2000" dirty="0"/>
                  <a:t>	   Hallucination Rate=Total queries / Queries with unsupported LLM claims​ × 100</a:t>
                </a:r>
              </a:p>
              <a:p>
                <a:pPr marL="457200" lvl="1" indent="0">
                  <a:buNone/>
                </a:pPr>
                <a:endParaRPr lang="en-GB" sz="2000" dirty="0"/>
              </a:p>
              <a:p>
                <a:pPr marL="457200" lvl="1" indent="0">
                  <a:buNone/>
                </a:pPr>
                <a:r>
                  <a:rPr lang="en-US" sz="2000" dirty="0"/>
                  <a:t>Combined Average Accuracy = (Tool Accuracy + Argument Accuracy) / 2 = (74 + 56) / 2 = 65%	</a:t>
                </a:r>
                <a:endParaRPr lang="en-US" sz="1100" i="1" dirty="0"/>
              </a:p>
              <a:p>
                <a:endParaRPr lang="en-US" sz="1100" dirty="0"/>
              </a:p>
              <a:p>
                <a:endParaRPr lang="en-US" sz="1100" dirty="0"/>
              </a:p>
              <a:p>
                <a:endParaRPr lang="en-IN" sz="1100" dirty="0"/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E1CEBB5E-ECF0-7FF5-347B-2E75797E5B25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0"/>
              </p:nvPr>
            </p:nvSpPr>
            <p:spPr>
              <a:xfrm>
                <a:off x="172788" y="556007"/>
                <a:ext cx="11426771" cy="5924573"/>
              </a:xfrm>
              <a:blipFill>
                <a:blip r:embed="rId3"/>
                <a:stretch>
                  <a:fillRect l="-160" r="-42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593684527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900C2F6-9F79-33A7-76FC-2774DB35FB5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BB8F4F5-9009-FCC1-1542-85E4687F341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5555" y="0"/>
            <a:ext cx="11885653" cy="838800"/>
          </a:xfrm>
        </p:spPr>
        <p:txBody>
          <a:bodyPr anchor="ctr">
            <a:normAutofit/>
          </a:bodyPr>
          <a:lstStyle/>
          <a:p>
            <a:r>
              <a:rPr lang="en-IN" dirty="0"/>
              <a:t>Todays demo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2285AB5-7FE8-25C8-B84E-698086E31CC4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172788" y="556007"/>
            <a:ext cx="11426771" cy="5924573"/>
          </a:xfrm>
        </p:spPr>
        <p:txBody>
          <a:bodyPr>
            <a:normAutofit fontScale="92500" lnSpcReduction="10000"/>
          </a:bodyPr>
          <a:lstStyle/>
          <a:p>
            <a:pPr marL="457200" lvl="1" indent="0">
              <a:buNone/>
            </a:pPr>
            <a:endParaRPr lang="en-US" sz="1100" dirty="0"/>
          </a:p>
          <a:p>
            <a:pPr marL="800100" lvl="1" indent="-342900"/>
            <a:endParaRPr lang="en-US" sz="1100" i="1" dirty="0"/>
          </a:p>
          <a:p>
            <a:r>
              <a:rPr lang="en-US" sz="2000" dirty="0"/>
              <a:t>1. What traffic do you expect at 21:15?</a:t>
            </a:r>
          </a:p>
          <a:p>
            <a:endParaRPr lang="en-US" sz="2000" dirty="0"/>
          </a:p>
          <a:p>
            <a:r>
              <a:rPr lang="en-US" sz="2000" dirty="0"/>
              <a:t>2. What is the predicted SLA state at 21:15?</a:t>
            </a:r>
          </a:p>
          <a:p>
            <a:endParaRPr lang="en-US" sz="2000" dirty="0"/>
          </a:p>
          <a:p>
            <a:r>
              <a:rPr lang="en-US" sz="2000" dirty="0"/>
              <a:t>3. Show me the complete network state at 16:20.</a:t>
            </a:r>
          </a:p>
          <a:p>
            <a:endParaRPr lang="en-US" sz="2000" dirty="0"/>
          </a:p>
          <a:p>
            <a:r>
              <a:rPr lang="en-US" sz="2000" dirty="0"/>
              <a:t>4. Keep PON on 2 subcarriers at 21:15 and allocate the remaining two.</a:t>
            </a:r>
          </a:p>
          <a:p>
            <a:endParaRPr lang="en-US" sz="2000" dirty="0"/>
          </a:p>
          <a:p>
            <a:r>
              <a:rPr lang="en-US" sz="2000" dirty="0"/>
              <a:t>5. Reserve 1 subcarrier for PON at 21:15 and allocate the remaining three.</a:t>
            </a:r>
          </a:p>
          <a:p>
            <a:endParaRPr lang="en-US" sz="2000" dirty="0"/>
          </a:p>
          <a:p>
            <a:r>
              <a:rPr lang="en-US" sz="2000" dirty="0"/>
              <a:t>6. And one hour later?</a:t>
            </a:r>
          </a:p>
          <a:p>
            <a:endParaRPr lang="en-US" sz="2000" dirty="0"/>
          </a:p>
          <a:p>
            <a:r>
              <a:rPr lang="en-US" sz="2000" dirty="0"/>
              <a:t>   System → Which time should I use as the reference?</a:t>
            </a:r>
          </a:p>
          <a:p>
            <a:endParaRPr lang="en-US" sz="2000" dirty="0"/>
          </a:p>
          <a:p>
            <a:r>
              <a:rPr lang="en-US" sz="2000" dirty="0"/>
              <a:t>7. </a:t>
            </a:r>
            <a:r>
              <a:rPr lang="en-US" sz="2000"/>
              <a:t>10:00%</a:t>
            </a:r>
            <a:r>
              <a:rPr lang="en-US" sz="2000" dirty="0"/>
              <a:t>	</a:t>
            </a:r>
            <a:endParaRPr lang="en-US" sz="1100" i="1" dirty="0"/>
          </a:p>
          <a:p>
            <a:endParaRPr lang="en-US" sz="1100" dirty="0"/>
          </a:p>
          <a:p>
            <a:endParaRPr lang="en-US" sz="1100" dirty="0"/>
          </a:p>
          <a:p>
            <a:endParaRPr lang="en-IN" sz="1100" dirty="0"/>
          </a:p>
        </p:txBody>
      </p:sp>
    </p:spTree>
    <p:extLst>
      <p:ext uri="{BB962C8B-B14F-4D97-AF65-F5344CB8AC3E}">
        <p14:creationId xmlns:p14="http://schemas.microsoft.com/office/powerpoint/2010/main" val="31519826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2390</TotalTime>
  <Words>1043</Words>
  <Application>Microsoft Office PowerPoint</Application>
  <PresentationFormat>Widescreen</PresentationFormat>
  <Paragraphs>213</Paragraphs>
  <Slides>18</Slides>
  <Notes>17</Notes>
  <HiddenSlides>0</HiddenSlides>
  <MMClips>0</MMClips>
  <ScaleCrop>false</ScaleCrop>
  <HeadingPairs>
    <vt:vector size="6" baseType="variant">
      <vt:variant>
        <vt:lpstr>Fonts Used</vt:lpstr>
      </vt:variant>
      <vt:variant>
        <vt:i4>12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31" baseType="lpstr">
      <vt:lpstr>Aptos</vt:lpstr>
      <vt:lpstr>Aptos Display</vt:lpstr>
      <vt:lpstr>Arial</vt:lpstr>
      <vt:lpstr>Cambria Math</vt:lpstr>
      <vt:lpstr>Courier New</vt:lpstr>
      <vt:lpstr>Montserrat</vt:lpstr>
      <vt:lpstr>Montserrat Alternates Medium</vt:lpstr>
      <vt:lpstr>Montserrat SemiBold</vt:lpstr>
      <vt:lpstr>Montserrat-Regular</vt:lpstr>
      <vt:lpstr>Open Sans</vt:lpstr>
      <vt:lpstr>Symbol</vt:lpstr>
      <vt:lpstr>Wingdings</vt:lpstr>
      <vt:lpstr>Office Theme</vt:lpstr>
      <vt:lpstr>Multi-Agent Digital Twin for SLA Management inCoherent P2MP Metro-Access Networks  </vt:lpstr>
      <vt:lpstr>Points to improve on</vt:lpstr>
      <vt:lpstr>Agentic setup</vt:lpstr>
      <vt:lpstr>Traffic forecasting result</vt:lpstr>
      <vt:lpstr>Network state classification</vt:lpstr>
      <vt:lpstr>Agent architecture</vt:lpstr>
      <vt:lpstr>changes</vt:lpstr>
      <vt:lpstr>Todays demo</vt:lpstr>
      <vt:lpstr>Todays demo</vt:lpstr>
      <vt:lpstr>Todays demo</vt:lpstr>
      <vt:lpstr>Todays demo</vt:lpstr>
      <vt:lpstr>Todays demo</vt:lpstr>
      <vt:lpstr>Todays demo</vt:lpstr>
      <vt:lpstr>Findings and future work</vt:lpstr>
      <vt:lpstr>Changelog 18th September 2027</vt:lpstr>
      <vt:lpstr>tools</vt:lpstr>
      <vt:lpstr>Evaluation steps</vt:lpstr>
      <vt:lpstr>Todays demo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Zeb  Sanwal</dc:creator>
  <cp:lastModifiedBy>Imran Chowdhury  Dipto</cp:lastModifiedBy>
  <cp:revision>51</cp:revision>
  <dcterms:created xsi:type="dcterms:W3CDTF">2026-06-15T07:38:28Z</dcterms:created>
  <dcterms:modified xsi:type="dcterms:W3CDTF">2026-09-14T12:29:20Z</dcterms:modified>
</cp:coreProperties>
</file>